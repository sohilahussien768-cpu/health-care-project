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nva Sans" charset="1" panose="020B0503030501040103"/>
      <p:regular r:id="rId43"/>
    </p:embeddedFont>
    <p:embeddedFont>
      <p:font typeface="Poppins Bold" charset="1" panose="00000800000000000000"/>
      <p:regular r:id="rId44"/>
    </p:embeddedFont>
    <p:embeddedFont>
      <p:font typeface="Poppins" charset="1" panose="00000500000000000000"/>
      <p:regular r:id="rId45"/>
    </p:embeddedFont>
    <p:embeddedFont>
      <p:font typeface="Canva Sans Bold" charset="1" panose="020B0803030501040103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41496" y="5143500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28941" y="-5670511"/>
            <a:ext cx="10814011" cy="10814011"/>
          </a:xfrm>
          <a:custGeom>
            <a:avLst/>
            <a:gdLst/>
            <a:ahLst/>
            <a:cxnLst/>
            <a:rect r="r" b="b" t="t" l="l"/>
            <a:pathLst>
              <a:path h="10814011" w="10814011">
                <a:moveTo>
                  <a:pt x="0" y="0"/>
                </a:moveTo>
                <a:lnTo>
                  <a:pt x="10814011" y="0"/>
                </a:lnTo>
                <a:lnTo>
                  <a:pt x="10814011" y="10814011"/>
                </a:lnTo>
                <a:lnTo>
                  <a:pt x="0" y="10814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13117" y="2444506"/>
            <a:ext cx="11861766" cy="5397987"/>
            <a:chOff x="0" y="0"/>
            <a:chExt cx="15815688" cy="719731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5815688" cy="7197317"/>
              <a:chOff x="0" y="0"/>
              <a:chExt cx="2378837" cy="108254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78837" cy="1082548"/>
              </a:xfrm>
              <a:custGeom>
                <a:avLst/>
                <a:gdLst/>
                <a:ahLst/>
                <a:cxnLst/>
                <a:rect r="r" b="b" t="t" l="l"/>
                <a:pathLst>
                  <a:path h="1082548" w="2378837">
                    <a:moveTo>
                      <a:pt x="11143" y="0"/>
                    </a:moveTo>
                    <a:lnTo>
                      <a:pt x="2367694" y="0"/>
                    </a:lnTo>
                    <a:cubicBezTo>
                      <a:pt x="2370649" y="0"/>
                      <a:pt x="2373483" y="1174"/>
                      <a:pt x="2375573" y="3264"/>
                    </a:cubicBezTo>
                    <a:cubicBezTo>
                      <a:pt x="2377663" y="5353"/>
                      <a:pt x="2378837" y="8188"/>
                      <a:pt x="2378837" y="11143"/>
                    </a:cubicBezTo>
                    <a:lnTo>
                      <a:pt x="2378837" y="1071405"/>
                    </a:lnTo>
                    <a:cubicBezTo>
                      <a:pt x="2378837" y="1077559"/>
                      <a:pt x="2373848" y="1082548"/>
                      <a:pt x="2367694" y="1082548"/>
                    </a:cubicBezTo>
                    <a:lnTo>
                      <a:pt x="11143" y="1082548"/>
                    </a:lnTo>
                    <a:cubicBezTo>
                      <a:pt x="8188" y="1082548"/>
                      <a:pt x="5353" y="1081374"/>
                      <a:pt x="3264" y="1079284"/>
                    </a:cubicBezTo>
                    <a:cubicBezTo>
                      <a:pt x="1174" y="1077194"/>
                      <a:pt x="0" y="1074360"/>
                      <a:pt x="0" y="1071405"/>
                    </a:cubicBezTo>
                    <a:lnTo>
                      <a:pt x="0" y="11143"/>
                    </a:lnTo>
                    <a:cubicBezTo>
                      <a:pt x="0" y="8188"/>
                      <a:pt x="1174" y="5353"/>
                      <a:pt x="3264" y="3264"/>
                    </a:cubicBezTo>
                    <a:cubicBezTo>
                      <a:pt x="5353" y="1174"/>
                      <a:pt x="8188" y="0"/>
                      <a:pt x="1114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5066D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378837" cy="11206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18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736131" y="5373701"/>
              <a:ext cx="12449104" cy="1117194"/>
              <a:chOff x="0" y="0"/>
              <a:chExt cx="1872469" cy="16803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72469" cy="168037"/>
              </a:xfrm>
              <a:custGeom>
                <a:avLst/>
                <a:gdLst/>
                <a:ahLst/>
                <a:cxnLst/>
                <a:rect r="r" b="b" t="t" l="l"/>
                <a:pathLst>
                  <a:path h="168037" w="1872469">
                    <a:moveTo>
                      <a:pt x="18512" y="0"/>
                    </a:moveTo>
                    <a:lnTo>
                      <a:pt x="1853957" y="0"/>
                    </a:lnTo>
                    <a:cubicBezTo>
                      <a:pt x="1864181" y="0"/>
                      <a:pt x="1872469" y="8288"/>
                      <a:pt x="1872469" y="18512"/>
                    </a:cubicBezTo>
                    <a:lnTo>
                      <a:pt x="1872469" y="149525"/>
                    </a:lnTo>
                    <a:cubicBezTo>
                      <a:pt x="1872469" y="159749"/>
                      <a:pt x="1864181" y="168037"/>
                      <a:pt x="1853957" y="168037"/>
                    </a:cubicBezTo>
                    <a:lnTo>
                      <a:pt x="18512" y="168037"/>
                    </a:lnTo>
                    <a:cubicBezTo>
                      <a:pt x="8288" y="168037"/>
                      <a:pt x="0" y="159749"/>
                      <a:pt x="0" y="149525"/>
                    </a:cubicBezTo>
                    <a:lnTo>
                      <a:pt x="0" y="18512"/>
                    </a:lnTo>
                    <a:cubicBezTo>
                      <a:pt x="0" y="8288"/>
                      <a:pt x="8288" y="0"/>
                      <a:pt x="18512" y="0"/>
                    </a:cubicBezTo>
                    <a:close/>
                  </a:path>
                </a:pathLst>
              </a:custGeom>
              <a:solidFill>
                <a:srgbClr val="0506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872469" cy="2061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18"/>
                  </a:lnSpc>
                </a:pPr>
                <a:r>
                  <a:rPr lang="en-US" sz="2441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Healthcare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014928" y="406467"/>
              <a:ext cx="13785833" cy="4689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59"/>
                </a:lnSpc>
              </a:pPr>
              <a:r>
                <a:rPr lang="en-US" sz="11196" b="true">
                  <a:solidFill>
                    <a:srgbClr val="05066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Stroke </a:t>
              </a:r>
            </a:p>
            <a:p>
              <a:pPr algn="ctr" marL="0" indent="0" lvl="0">
                <a:lnSpc>
                  <a:spcPts val="13659"/>
                </a:lnSpc>
                <a:spcBef>
                  <a:spcPct val="0"/>
                </a:spcBef>
              </a:pPr>
              <a:r>
                <a:rPr lang="en-US" b="true" sz="11196">
                  <a:solidFill>
                    <a:srgbClr val="05066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Predection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28460" y="-4648969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8"/>
                </a:lnTo>
                <a:lnTo>
                  <a:pt x="0" y="11355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8784"/>
            <a:ext cx="8550780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16351" y="375630"/>
            <a:ext cx="10089928" cy="10089928"/>
          </a:xfrm>
          <a:custGeom>
            <a:avLst/>
            <a:gdLst/>
            <a:ahLst/>
            <a:cxnLst/>
            <a:rect r="r" b="b" t="t" l="l"/>
            <a:pathLst>
              <a:path h="10089928" w="10089928">
                <a:moveTo>
                  <a:pt x="0" y="0"/>
                </a:moveTo>
                <a:lnTo>
                  <a:pt x="10089928" y="0"/>
                </a:lnTo>
                <a:lnTo>
                  <a:pt x="10089928" y="10089928"/>
                </a:lnTo>
                <a:lnTo>
                  <a:pt x="0" y="10089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02987" y="3906908"/>
            <a:ext cx="4959731" cy="4269070"/>
            <a:chOff x="0" y="0"/>
            <a:chExt cx="6612975" cy="569209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5753783" cy="749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1"/>
                </a:lnSpc>
              </a:pPr>
              <a:r>
                <a:rPr lang="en-US" sz="340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Sohila Ayman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83882"/>
              <a:ext cx="5753783" cy="749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1"/>
                </a:lnSpc>
              </a:pPr>
              <a:r>
                <a:rPr lang="en-US" sz="340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Rana Emad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36802"/>
              <a:ext cx="5753783" cy="749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1"/>
                </a:lnSpc>
              </a:pPr>
              <a:r>
                <a:rPr lang="en-US" sz="340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Yasmeen Ahmed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689721"/>
              <a:ext cx="5753783" cy="749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1"/>
                </a:lnSpc>
              </a:pPr>
              <a:r>
                <a:rPr lang="en-US" sz="340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Omar Emam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942641"/>
              <a:ext cx="6612975" cy="749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1"/>
                </a:lnSpc>
              </a:pPr>
              <a:r>
                <a:rPr lang="en-US" sz="340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Mahmoud Ahmed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94548" y="704046"/>
            <a:ext cx="3464242" cy="2878208"/>
          </a:xfrm>
          <a:custGeom>
            <a:avLst/>
            <a:gdLst/>
            <a:ahLst/>
            <a:cxnLst/>
            <a:rect r="r" b="b" t="t" l="l"/>
            <a:pathLst>
              <a:path h="2878208" w="3464242">
                <a:moveTo>
                  <a:pt x="0" y="0"/>
                </a:moveTo>
                <a:lnTo>
                  <a:pt x="3464242" y="0"/>
                </a:lnTo>
                <a:lnTo>
                  <a:pt x="3464242" y="2878208"/>
                </a:lnTo>
                <a:lnTo>
                  <a:pt x="0" y="2878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17251" y="-4973623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3220" y="809625"/>
            <a:ext cx="8550780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90864" y="4204374"/>
            <a:ext cx="11029054" cy="11029054"/>
          </a:xfrm>
          <a:custGeom>
            <a:avLst/>
            <a:gdLst/>
            <a:ahLst/>
            <a:cxnLst/>
            <a:rect r="r" b="b" t="t" l="l"/>
            <a:pathLst>
              <a:path h="11029054" w="11029054">
                <a:moveTo>
                  <a:pt x="0" y="0"/>
                </a:moveTo>
                <a:lnTo>
                  <a:pt x="11029055" y="0"/>
                </a:lnTo>
                <a:lnTo>
                  <a:pt x="11029055" y="11029054"/>
                </a:lnTo>
                <a:lnTo>
                  <a:pt x="0" y="11029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75799" y="2537633"/>
            <a:ext cx="10037967" cy="7181268"/>
            <a:chOff x="0" y="0"/>
            <a:chExt cx="13383956" cy="95750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3130490" y="346396"/>
              <a:ext cx="8921283" cy="713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0"/>
                </a:lnSpc>
              </a:pP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Overview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2529556" cy="1545651"/>
              <a:chOff x="0" y="0"/>
              <a:chExt cx="1330199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301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30199">
                    <a:moveTo>
                      <a:pt x="665100" y="0"/>
                    </a:moveTo>
                    <a:cubicBezTo>
                      <a:pt x="297775" y="0"/>
                      <a:pt x="0" y="181951"/>
                      <a:pt x="0" y="406400"/>
                    </a:cubicBezTo>
                    <a:cubicBezTo>
                      <a:pt x="0" y="630849"/>
                      <a:pt x="297775" y="812800"/>
                      <a:pt x="665100" y="812800"/>
                    </a:cubicBezTo>
                    <a:cubicBezTo>
                      <a:pt x="1032424" y="812800"/>
                      <a:pt x="1330199" y="630849"/>
                      <a:pt x="1330199" y="406400"/>
                    </a:cubicBezTo>
                    <a:cubicBezTo>
                      <a:pt x="1330199" y="181951"/>
                      <a:pt x="1032424" y="0"/>
                      <a:pt x="665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4706" y="28575"/>
                <a:ext cx="1080787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8"/>
                  </a:lnSpc>
                </a:pPr>
                <a:r>
                  <a:rPr lang="en-US" b="true" sz="2241">
                    <a:solidFill>
                      <a:srgbClr val="05066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01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30490" y="2248041"/>
              <a:ext cx="8921283" cy="1469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0"/>
                </a:lnSpc>
              </a:pP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Collection, Exploration, and Preprocessing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(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Milestone 1)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1901645"/>
              <a:ext cx="2529556" cy="1545651"/>
              <a:chOff x="0" y="0"/>
              <a:chExt cx="1330199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301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30199">
                    <a:moveTo>
                      <a:pt x="665100" y="0"/>
                    </a:moveTo>
                    <a:cubicBezTo>
                      <a:pt x="297775" y="0"/>
                      <a:pt x="0" y="181951"/>
                      <a:pt x="0" y="406400"/>
                    </a:cubicBezTo>
                    <a:cubicBezTo>
                      <a:pt x="0" y="630849"/>
                      <a:pt x="297775" y="812800"/>
                      <a:pt x="665100" y="812800"/>
                    </a:cubicBezTo>
                    <a:cubicBezTo>
                      <a:pt x="1032424" y="812800"/>
                      <a:pt x="1330199" y="630849"/>
                      <a:pt x="1330199" y="406400"/>
                    </a:cubicBezTo>
                    <a:cubicBezTo>
                      <a:pt x="1330199" y="181951"/>
                      <a:pt x="1032424" y="0"/>
                      <a:pt x="665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24706" y="28575"/>
                <a:ext cx="1080787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8"/>
                  </a:lnSpc>
                </a:pPr>
                <a:r>
                  <a:rPr lang="en-US" b="true" sz="2241">
                    <a:solidFill>
                      <a:srgbClr val="05066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02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130490" y="4225822"/>
              <a:ext cx="8921283" cy="1469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0"/>
                </a:lnSpc>
              </a:pP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Analysis and Visualization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(Milestone 2)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3879426"/>
              <a:ext cx="2529556" cy="1545651"/>
              <a:chOff x="0" y="0"/>
              <a:chExt cx="1330199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301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30199">
                    <a:moveTo>
                      <a:pt x="665100" y="0"/>
                    </a:moveTo>
                    <a:cubicBezTo>
                      <a:pt x="297775" y="0"/>
                      <a:pt x="0" y="181951"/>
                      <a:pt x="0" y="406400"/>
                    </a:cubicBezTo>
                    <a:cubicBezTo>
                      <a:pt x="0" y="630849"/>
                      <a:pt x="297775" y="812800"/>
                      <a:pt x="665100" y="812800"/>
                    </a:cubicBezTo>
                    <a:cubicBezTo>
                      <a:pt x="1032424" y="812800"/>
                      <a:pt x="1330199" y="630849"/>
                      <a:pt x="1330199" y="406400"/>
                    </a:cubicBezTo>
                    <a:cubicBezTo>
                      <a:pt x="1330199" y="181951"/>
                      <a:pt x="1032424" y="0"/>
                      <a:pt x="665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24706" y="28575"/>
                <a:ext cx="1080787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8"/>
                  </a:lnSpc>
                </a:pPr>
                <a:r>
                  <a:rPr lang="en-US" b="true" sz="2241">
                    <a:solidFill>
                      <a:srgbClr val="05066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30490" y="6127467"/>
              <a:ext cx="8921283" cy="713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0"/>
                </a:lnSpc>
              </a:pP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Predictive Model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(</a:t>
              </a: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Milestone 3)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5781071"/>
              <a:ext cx="2529556" cy="1545651"/>
              <a:chOff x="0" y="0"/>
              <a:chExt cx="1330199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301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30199">
                    <a:moveTo>
                      <a:pt x="665100" y="0"/>
                    </a:moveTo>
                    <a:cubicBezTo>
                      <a:pt x="297775" y="0"/>
                      <a:pt x="0" y="181951"/>
                      <a:pt x="0" y="406400"/>
                    </a:cubicBezTo>
                    <a:cubicBezTo>
                      <a:pt x="0" y="630849"/>
                      <a:pt x="297775" y="812800"/>
                      <a:pt x="665100" y="812800"/>
                    </a:cubicBezTo>
                    <a:cubicBezTo>
                      <a:pt x="1032424" y="812800"/>
                      <a:pt x="1330199" y="630849"/>
                      <a:pt x="1330199" y="406400"/>
                    </a:cubicBezTo>
                    <a:cubicBezTo>
                      <a:pt x="1330199" y="181951"/>
                      <a:pt x="1032424" y="0"/>
                      <a:pt x="665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24706" y="28575"/>
                <a:ext cx="1080787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8"/>
                  </a:lnSpc>
                </a:pPr>
                <a:r>
                  <a:rPr lang="en-US" b="true" sz="2241">
                    <a:solidFill>
                      <a:srgbClr val="05066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04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30490" y="8105248"/>
              <a:ext cx="10253466" cy="1469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0"/>
                </a:lnSpc>
              </a:pPr>
              <a:r>
                <a:rPr lang="en-US" sz="3228" b="true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Deployment, and Monitoring(Milestone 4)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7758852"/>
              <a:ext cx="2529556" cy="1545651"/>
              <a:chOff x="0" y="0"/>
              <a:chExt cx="1330199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301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30199">
                    <a:moveTo>
                      <a:pt x="665100" y="0"/>
                    </a:moveTo>
                    <a:cubicBezTo>
                      <a:pt x="297775" y="0"/>
                      <a:pt x="0" y="181951"/>
                      <a:pt x="0" y="406400"/>
                    </a:cubicBezTo>
                    <a:cubicBezTo>
                      <a:pt x="0" y="630849"/>
                      <a:pt x="297775" y="812800"/>
                      <a:pt x="665100" y="812800"/>
                    </a:cubicBezTo>
                    <a:cubicBezTo>
                      <a:pt x="1032424" y="812800"/>
                      <a:pt x="1330199" y="630849"/>
                      <a:pt x="1330199" y="406400"/>
                    </a:cubicBezTo>
                    <a:cubicBezTo>
                      <a:pt x="1330199" y="181951"/>
                      <a:pt x="1032424" y="0"/>
                      <a:pt x="665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24706" y="28575"/>
                <a:ext cx="1080787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8"/>
                  </a:lnSpc>
                </a:pPr>
                <a:r>
                  <a:rPr lang="en-US" b="true" sz="2241">
                    <a:solidFill>
                      <a:srgbClr val="05066D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05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4C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03619" y="-6435461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52839" y="5105400"/>
            <a:ext cx="8550780" cy="169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227" indent="-262114" lvl="1">
              <a:lnSpc>
                <a:spcPts val="3399"/>
              </a:lnSpc>
              <a:buFont typeface="Arial"/>
              <a:buChar char="•"/>
            </a:pPr>
            <a:r>
              <a:rPr lang="en-US" sz="242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 help healthca</a:t>
            </a:r>
            <a:r>
              <a:rPr lang="en-US" sz="242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re professionals with tasks such as patient risk prediction, trend identification in health metrics, and making informed decisions based on predictive analytics.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43054" y="4919878"/>
            <a:ext cx="4318159" cy="43181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C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452839" y="1575541"/>
            <a:ext cx="8550780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2839" y="3461482"/>
            <a:ext cx="8890216" cy="123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9021" indent="-259511" lvl="1">
              <a:lnSpc>
                <a:spcPts val="3365"/>
              </a:lnSpc>
              <a:buFont typeface="Arial"/>
              <a:buChar char="•"/>
            </a:pPr>
            <a:r>
              <a:rPr lang="en-US" sz="240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40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e Healthcare Predictive Analytics project focuses on developing a predictive model to improve healthcare outcomes by providing data-driven insights.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598431" y="5731822"/>
            <a:ext cx="1807406" cy="2694270"/>
          </a:xfrm>
          <a:custGeom>
            <a:avLst/>
            <a:gdLst/>
            <a:ahLst/>
            <a:cxnLst/>
            <a:rect r="r" b="b" t="t" l="l"/>
            <a:pathLst>
              <a:path h="2694270" w="1807406">
                <a:moveTo>
                  <a:pt x="0" y="0"/>
                </a:moveTo>
                <a:lnTo>
                  <a:pt x="1807406" y="0"/>
                </a:lnTo>
                <a:lnTo>
                  <a:pt x="1807406" y="2694270"/>
                </a:lnTo>
                <a:lnTo>
                  <a:pt x="0" y="2694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52839" y="7188328"/>
            <a:ext cx="8550780" cy="83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227" indent="-262114" lvl="1">
              <a:lnSpc>
                <a:spcPts val="3399"/>
              </a:lnSpc>
              <a:buFont typeface="Arial"/>
              <a:buChar char="•"/>
            </a:pPr>
            <a:r>
              <a:rPr lang="en-US" sz="242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 forecast healthca</a:t>
            </a:r>
            <a:r>
              <a:rPr lang="en-US" sz="242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re-related outcomes, focusing on improving patient care and resource management.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6175" y="3771371"/>
            <a:ext cx="16139260" cy="16139260"/>
          </a:xfrm>
          <a:custGeom>
            <a:avLst/>
            <a:gdLst/>
            <a:ahLst/>
            <a:cxnLst/>
            <a:rect r="r" b="b" t="t" l="l"/>
            <a:pathLst>
              <a:path h="16139260" w="16139260">
                <a:moveTo>
                  <a:pt x="0" y="0"/>
                </a:moveTo>
                <a:lnTo>
                  <a:pt x="16139261" y="0"/>
                </a:lnTo>
                <a:lnTo>
                  <a:pt x="16139261" y="16139261"/>
                </a:lnTo>
                <a:lnTo>
                  <a:pt x="0" y="1613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5301" y="-3090277"/>
            <a:ext cx="6861649" cy="6861649"/>
          </a:xfrm>
          <a:custGeom>
            <a:avLst/>
            <a:gdLst/>
            <a:ahLst/>
            <a:cxnLst/>
            <a:rect r="r" b="b" t="t" l="l"/>
            <a:pathLst>
              <a:path h="6861649" w="6861649">
                <a:moveTo>
                  <a:pt x="0" y="0"/>
                </a:moveTo>
                <a:lnTo>
                  <a:pt x="6861648" y="0"/>
                </a:lnTo>
                <a:lnTo>
                  <a:pt x="6861648" y="6861648"/>
                </a:lnTo>
                <a:lnTo>
                  <a:pt x="0" y="686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32656" y="2271849"/>
            <a:ext cx="12222687" cy="5743302"/>
            <a:chOff x="0" y="0"/>
            <a:chExt cx="2802601" cy="13169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2601" cy="1316910"/>
            </a:xfrm>
            <a:custGeom>
              <a:avLst/>
              <a:gdLst/>
              <a:ahLst/>
              <a:cxnLst/>
              <a:rect r="r" b="b" t="t" l="l"/>
              <a:pathLst>
                <a:path h="1316910" w="2802601">
                  <a:moveTo>
                    <a:pt x="8234" y="0"/>
                  </a:moveTo>
                  <a:lnTo>
                    <a:pt x="2794367" y="0"/>
                  </a:lnTo>
                  <a:cubicBezTo>
                    <a:pt x="2798914" y="0"/>
                    <a:pt x="2802601" y="3687"/>
                    <a:pt x="2802601" y="8234"/>
                  </a:cubicBezTo>
                  <a:lnTo>
                    <a:pt x="2802601" y="1308676"/>
                  </a:lnTo>
                  <a:cubicBezTo>
                    <a:pt x="2802601" y="1313224"/>
                    <a:pt x="2798914" y="1316910"/>
                    <a:pt x="2794367" y="1316910"/>
                  </a:cubicBezTo>
                  <a:lnTo>
                    <a:pt x="8234" y="1316910"/>
                  </a:lnTo>
                  <a:cubicBezTo>
                    <a:pt x="3687" y="1316910"/>
                    <a:pt x="0" y="1313224"/>
                    <a:pt x="0" y="1308676"/>
                  </a:cubicBezTo>
                  <a:lnTo>
                    <a:pt x="0" y="8234"/>
                  </a:lnTo>
                  <a:cubicBezTo>
                    <a:pt x="0" y="3687"/>
                    <a:pt x="3687" y="0"/>
                    <a:pt x="8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2802601" cy="150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687"/>
                </a:lnSpc>
                <a:spcBef>
                  <a:spcPct val="0"/>
                </a:spcBef>
              </a:pPr>
              <a:r>
                <a:rPr lang="en-US" sz="6919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Mile</a:t>
              </a:r>
              <a:r>
                <a:rPr lang="en-US" sz="6919" strike="noStrike" u="none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stone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58789" y="5974909"/>
            <a:ext cx="7170421" cy="94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00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Data Collection, Exploration, and Preprocessing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3475" y="-802471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04244" y="673273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9181" y="3330623"/>
            <a:ext cx="15589638" cy="5099839"/>
            <a:chOff x="0" y="0"/>
            <a:chExt cx="20786184" cy="679978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965784" cy="6799785"/>
              <a:chOff x="0" y="0"/>
              <a:chExt cx="2070528" cy="141274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70528" cy="1412748"/>
              </a:xfrm>
              <a:custGeom>
                <a:avLst/>
                <a:gdLst/>
                <a:ahLst/>
                <a:cxnLst/>
                <a:rect r="r" b="b" t="t" l="l"/>
                <a:pathLst>
                  <a:path h="1412748" w="2070528">
                    <a:moveTo>
                      <a:pt x="48224" y="0"/>
                    </a:moveTo>
                    <a:lnTo>
                      <a:pt x="2022304" y="0"/>
                    </a:lnTo>
                    <a:cubicBezTo>
                      <a:pt x="2048937" y="0"/>
                      <a:pt x="2070528" y="21591"/>
                      <a:pt x="2070528" y="48224"/>
                    </a:cubicBezTo>
                    <a:lnTo>
                      <a:pt x="2070528" y="1364524"/>
                    </a:lnTo>
                    <a:cubicBezTo>
                      <a:pt x="2070528" y="1391158"/>
                      <a:pt x="2048937" y="1412748"/>
                      <a:pt x="2022304" y="1412748"/>
                    </a:cubicBezTo>
                    <a:lnTo>
                      <a:pt x="48224" y="1412748"/>
                    </a:lnTo>
                    <a:cubicBezTo>
                      <a:pt x="21591" y="1412748"/>
                      <a:pt x="0" y="1391158"/>
                      <a:pt x="0" y="1364524"/>
                    </a:cubicBezTo>
                    <a:lnTo>
                      <a:pt x="0" y="48224"/>
                    </a:lnTo>
                    <a:cubicBezTo>
                      <a:pt x="0" y="21591"/>
                      <a:pt x="21591" y="0"/>
                      <a:pt x="4822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070528" cy="14603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98624" y="1126534"/>
              <a:ext cx="9368536" cy="44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5"/>
                </a:lnSpc>
                <a:spcBef>
                  <a:spcPct val="0"/>
                </a:spcBef>
              </a:pPr>
              <a:r>
                <a:rPr lang="en-US" sz="3197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Obta</a:t>
              </a:r>
              <a:r>
                <a:rPr lang="en-US" sz="3197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 healthcare datasets (e.g., patient records, clinical data, or health metrics) that contain key features like age, medical history, test results, treatments, and patient outcomes.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10820400" y="0"/>
              <a:ext cx="9965784" cy="6799785"/>
              <a:chOff x="0" y="0"/>
              <a:chExt cx="2070528" cy="141274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70528" cy="1412748"/>
              </a:xfrm>
              <a:custGeom>
                <a:avLst/>
                <a:gdLst/>
                <a:ahLst/>
                <a:cxnLst/>
                <a:rect r="r" b="b" t="t" l="l"/>
                <a:pathLst>
                  <a:path h="1412748" w="2070528">
                    <a:moveTo>
                      <a:pt x="48224" y="0"/>
                    </a:moveTo>
                    <a:lnTo>
                      <a:pt x="2022304" y="0"/>
                    </a:lnTo>
                    <a:cubicBezTo>
                      <a:pt x="2048937" y="0"/>
                      <a:pt x="2070528" y="21591"/>
                      <a:pt x="2070528" y="48224"/>
                    </a:cubicBezTo>
                    <a:lnTo>
                      <a:pt x="2070528" y="1364524"/>
                    </a:lnTo>
                    <a:cubicBezTo>
                      <a:pt x="2070528" y="1391158"/>
                      <a:pt x="2048937" y="1412748"/>
                      <a:pt x="2022304" y="1412748"/>
                    </a:cubicBezTo>
                    <a:lnTo>
                      <a:pt x="48224" y="1412748"/>
                    </a:lnTo>
                    <a:cubicBezTo>
                      <a:pt x="21591" y="1412748"/>
                      <a:pt x="0" y="1391158"/>
                      <a:pt x="0" y="1364524"/>
                    </a:cubicBezTo>
                    <a:lnTo>
                      <a:pt x="0" y="48224"/>
                    </a:lnTo>
                    <a:cubicBezTo>
                      <a:pt x="0" y="21591"/>
                      <a:pt x="21591" y="0"/>
                      <a:pt x="4822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70528" cy="14603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119024" y="2261707"/>
              <a:ext cx="9368536" cy="2196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5"/>
                </a:lnSpc>
                <a:spcBef>
                  <a:spcPct val="0"/>
                </a:spcBef>
              </a:pPr>
              <a:r>
                <a:rPr lang="en-US" sz="3197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</a:t>
              </a:r>
              <a:r>
                <a:rPr lang="en-US" sz="3197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nsure the dataset contains relevant health information and is structured for predictive modeling.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60192" y="847725"/>
            <a:ext cx="7374725" cy="111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  <a:spcBef>
                <a:spcPct val="0"/>
              </a:spcBef>
            </a:pPr>
            <a:r>
              <a:rPr lang="en-US" sz="614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 1. Data Collection: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5300" y="856761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217103">
            <a:off x="449482" y="-4809715"/>
            <a:ext cx="6014582" cy="9214541"/>
          </a:xfrm>
          <a:custGeom>
            <a:avLst/>
            <a:gdLst/>
            <a:ahLst/>
            <a:cxnLst/>
            <a:rect r="r" b="b" t="t" l="l"/>
            <a:pathLst>
              <a:path h="9214541" w="6014582">
                <a:moveTo>
                  <a:pt x="6014582" y="0"/>
                </a:moveTo>
                <a:lnTo>
                  <a:pt x="0" y="0"/>
                </a:lnTo>
                <a:lnTo>
                  <a:pt x="0" y="9214541"/>
                </a:lnTo>
                <a:lnTo>
                  <a:pt x="6014582" y="9214541"/>
                </a:lnTo>
                <a:lnTo>
                  <a:pt x="60145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66979" y="4851823"/>
            <a:ext cx="20217411" cy="5232903"/>
          </a:xfrm>
          <a:custGeom>
            <a:avLst/>
            <a:gdLst/>
            <a:ahLst/>
            <a:cxnLst/>
            <a:rect r="r" b="b" t="t" l="l"/>
            <a:pathLst>
              <a:path h="5232903" w="20217411">
                <a:moveTo>
                  <a:pt x="0" y="0"/>
                </a:moveTo>
                <a:lnTo>
                  <a:pt x="20217411" y="0"/>
                </a:lnTo>
                <a:lnTo>
                  <a:pt x="20217411" y="5232904"/>
                </a:lnTo>
                <a:lnTo>
                  <a:pt x="0" y="5232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13686" y="2368761"/>
            <a:ext cx="6418146" cy="2250994"/>
          </a:xfrm>
          <a:custGeom>
            <a:avLst/>
            <a:gdLst/>
            <a:ahLst/>
            <a:cxnLst/>
            <a:rect r="r" b="b" t="t" l="l"/>
            <a:pathLst>
              <a:path h="2250994" w="6418146">
                <a:moveTo>
                  <a:pt x="0" y="0"/>
                </a:moveTo>
                <a:lnTo>
                  <a:pt x="6418146" y="0"/>
                </a:lnTo>
                <a:lnTo>
                  <a:pt x="6418146" y="2250994"/>
                </a:lnTo>
                <a:lnTo>
                  <a:pt x="0" y="22509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99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37686"/>
            <a:ext cx="9403598" cy="133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38"/>
              </a:lnSpc>
              <a:spcBef>
                <a:spcPct val="0"/>
              </a:spcBef>
            </a:pPr>
            <a:r>
              <a:rPr lang="en-US" sz="73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73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1. Data Coll</a:t>
            </a:r>
            <a:r>
              <a:rPr lang="en-US" sz="7384" strike="noStrike" u="none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ection: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3475" y="-802471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471" y="857250"/>
            <a:ext cx="8058170" cy="110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6"/>
              </a:lnSpc>
              <a:spcBef>
                <a:spcPct val="0"/>
              </a:spcBef>
            </a:pPr>
            <a:r>
              <a:rPr lang="en-US" sz="614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2. Data Exploration: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4194" y="3330623"/>
            <a:ext cx="24831905" cy="14261899"/>
            <a:chOff x="0" y="0"/>
            <a:chExt cx="33109207" cy="19015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913361" y="2820020"/>
              <a:ext cx="16195846" cy="16195846"/>
            </a:xfrm>
            <a:custGeom>
              <a:avLst/>
              <a:gdLst/>
              <a:ahLst/>
              <a:cxnLst/>
              <a:rect r="r" b="b" t="t" l="l"/>
              <a:pathLst>
                <a:path h="16195846" w="16195846">
                  <a:moveTo>
                    <a:pt x="0" y="0"/>
                  </a:moveTo>
                  <a:lnTo>
                    <a:pt x="16195846" y="0"/>
                  </a:lnTo>
                  <a:lnTo>
                    <a:pt x="16195846" y="16195846"/>
                  </a:lnTo>
                  <a:lnTo>
                    <a:pt x="0" y="1619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7556318" cy="5902393"/>
              <a:chOff x="0" y="0"/>
              <a:chExt cx="1626863" cy="12707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26863" cy="1270776"/>
              </a:xfrm>
              <a:custGeom>
                <a:avLst/>
                <a:gdLst/>
                <a:ahLst/>
                <a:cxnLst/>
                <a:rect r="r" b="b" t="t" l="l"/>
                <a:pathLst>
                  <a:path h="1270776" w="1626863">
                    <a:moveTo>
                      <a:pt x="61375" y="0"/>
                    </a:moveTo>
                    <a:lnTo>
                      <a:pt x="1565488" y="0"/>
                    </a:lnTo>
                    <a:cubicBezTo>
                      <a:pt x="1599385" y="0"/>
                      <a:pt x="1626863" y="27479"/>
                      <a:pt x="1626863" y="61375"/>
                    </a:cubicBezTo>
                    <a:lnTo>
                      <a:pt x="1626863" y="1209401"/>
                    </a:lnTo>
                    <a:cubicBezTo>
                      <a:pt x="1626863" y="1243297"/>
                      <a:pt x="1599385" y="1270776"/>
                      <a:pt x="1565488" y="1270776"/>
                    </a:cubicBezTo>
                    <a:lnTo>
                      <a:pt x="61375" y="1270776"/>
                    </a:lnTo>
                    <a:cubicBezTo>
                      <a:pt x="27479" y="1270776"/>
                      <a:pt x="0" y="1243297"/>
                      <a:pt x="0" y="1209401"/>
                    </a:cubicBezTo>
                    <a:lnTo>
                      <a:pt x="0" y="61375"/>
                    </a:lnTo>
                    <a:cubicBezTo>
                      <a:pt x="0" y="27479"/>
                      <a:pt x="27479" y="0"/>
                      <a:pt x="613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626863" cy="1318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44086" y="1754274"/>
              <a:ext cx="7268146" cy="2088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21"/>
                </a:lnSpc>
                <a:spcBef>
                  <a:spcPct val="0"/>
                </a:spcBef>
              </a:pPr>
              <a:r>
                <a:rPr lang="en-US" sz="301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</a:t>
              </a:r>
              <a:r>
                <a:rPr lang="en-US" sz="301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nduct exploratory data analysis (EDA) to understand the structure of the dataset. 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7772056" y="0"/>
              <a:ext cx="7556318" cy="5902393"/>
              <a:chOff x="0" y="0"/>
              <a:chExt cx="1626863" cy="12707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26863" cy="1270776"/>
              </a:xfrm>
              <a:custGeom>
                <a:avLst/>
                <a:gdLst/>
                <a:ahLst/>
                <a:cxnLst/>
                <a:rect r="r" b="b" t="t" l="l"/>
                <a:pathLst>
                  <a:path h="1270776" w="1626863">
                    <a:moveTo>
                      <a:pt x="61375" y="0"/>
                    </a:moveTo>
                    <a:lnTo>
                      <a:pt x="1565488" y="0"/>
                    </a:lnTo>
                    <a:cubicBezTo>
                      <a:pt x="1599385" y="0"/>
                      <a:pt x="1626863" y="27479"/>
                      <a:pt x="1626863" y="61375"/>
                    </a:cubicBezTo>
                    <a:lnTo>
                      <a:pt x="1626863" y="1209401"/>
                    </a:lnTo>
                    <a:cubicBezTo>
                      <a:pt x="1626863" y="1243297"/>
                      <a:pt x="1599385" y="1270776"/>
                      <a:pt x="1565488" y="1270776"/>
                    </a:cubicBezTo>
                    <a:lnTo>
                      <a:pt x="61375" y="1270776"/>
                    </a:lnTo>
                    <a:cubicBezTo>
                      <a:pt x="27479" y="1270776"/>
                      <a:pt x="0" y="1243297"/>
                      <a:pt x="0" y="1209401"/>
                    </a:cubicBezTo>
                    <a:lnTo>
                      <a:pt x="0" y="61375"/>
                    </a:lnTo>
                    <a:cubicBezTo>
                      <a:pt x="0" y="27479"/>
                      <a:pt x="27479" y="0"/>
                      <a:pt x="613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626863" cy="1318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681592" y="38748"/>
              <a:ext cx="7556318" cy="5902393"/>
              <a:chOff x="0" y="0"/>
              <a:chExt cx="1626863" cy="12707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26863" cy="1270776"/>
              </a:xfrm>
              <a:custGeom>
                <a:avLst/>
                <a:gdLst/>
                <a:ahLst/>
                <a:cxnLst/>
                <a:rect r="r" b="b" t="t" l="l"/>
                <a:pathLst>
                  <a:path h="1270776" w="1626863">
                    <a:moveTo>
                      <a:pt x="61375" y="0"/>
                    </a:moveTo>
                    <a:lnTo>
                      <a:pt x="1565488" y="0"/>
                    </a:lnTo>
                    <a:cubicBezTo>
                      <a:pt x="1599385" y="0"/>
                      <a:pt x="1626863" y="27479"/>
                      <a:pt x="1626863" y="61375"/>
                    </a:cubicBezTo>
                    <a:lnTo>
                      <a:pt x="1626863" y="1209401"/>
                    </a:lnTo>
                    <a:cubicBezTo>
                      <a:pt x="1626863" y="1243297"/>
                      <a:pt x="1599385" y="1270776"/>
                      <a:pt x="1565488" y="1270776"/>
                    </a:cubicBezTo>
                    <a:lnTo>
                      <a:pt x="61375" y="1270776"/>
                    </a:lnTo>
                    <a:cubicBezTo>
                      <a:pt x="27479" y="1270776"/>
                      <a:pt x="0" y="1243297"/>
                      <a:pt x="0" y="1209401"/>
                    </a:cubicBezTo>
                    <a:lnTo>
                      <a:pt x="0" y="61375"/>
                    </a:lnTo>
                    <a:cubicBezTo>
                      <a:pt x="0" y="27479"/>
                      <a:pt x="27479" y="0"/>
                      <a:pt x="613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E4EEFF">
                      <a:alpha val="100000"/>
                    </a:srgbClr>
                  </a:gs>
                  <a:gs pos="100000">
                    <a:srgbClr val="B0C5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626863" cy="1318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8100518" y="1545913"/>
              <a:ext cx="7036875" cy="28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19"/>
                </a:lnSpc>
                <a:spcBef>
                  <a:spcPct val="0"/>
                </a:spcBef>
              </a:pPr>
              <a:r>
                <a:rPr lang="en-US" sz="308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Ide</a:t>
              </a:r>
              <a:r>
                <a:rPr lang="en-US" sz="308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ntify key features, the distribution of health-related data points, and any potential patterns.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941314" y="1524442"/>
              <a:ext cx="7036875" cy="28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19"/>
                </a:lnSpc>
                <a:spcBef>
                  <a:spcPct val="0"/>
                </a:spcBef>
              </a:pPr>
              <a:r>
                <a:rPr lang="en-US" sz="308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Ide</a:t>
              </a:r>
              <a:r>
                <a:rPr lang="en-US" sz="3085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ntify key features, the distribution of health-related data points, and any potential patterns.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9625"/>
            <a:ext cx="7067044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03499" y="6223128"/>
            <a:ext cx="8935030" cy="8935030"/>
          </a:xfrm>
          <a:custGeom>
            <a:avLst/>
            <a:gdLst/>
            <a:ahLst/>
            <a:cxnLst/>
            <a:rect r="r" b="b" t="t" l="l"/>
            <a:pathLst>
              <a:path h="8935030" w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7756" y="4713986"/>
            <a:ext cx="3712909" cy="3018285"/>
          </a:xfrm>
          <a:custGeom>
            <a:avLst/>
            <a:gdLst/>
            <a:ahLst/>
            <a:cxnLst/>
            <a:rect r="r" b="b" t="t" l="l"/>
            <a:pathLst>
              <a:path h="3018285" w="3712909">
                <a:moveTo>
                  <a:pt x="0" y="0"/>
                </a:moveTo>
                <a:lnTo>
                  <a:pt x="3712909" y="0"/>
                </a:lnTo>
                <a:lnTo>
                  <a:pt x="3712909" y="3018285"/>
                </a:lnTo>
                <a:lnTo>
                  <a:pt x="0" y="301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94211" y="-2802161"/>
            <a:ext cx="6788421" cy="6788421"/>
          </a:xfrm>
          <a:custGeom>
            <a:avLst/>
            <a:gdLst/>
            <a:ahLst/>
            <a:cxnLst/>
            <a:rect r="r" b="b" t="t" l="l"/>
            <a:pathLst>
              <a:path h="6788421" w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28840" y="592049"/>
            <a:ext cx="9924316" cy="9004688"/>
          </a:xfrm>
          <a:custGeom>
            <a:avLst/>
            <a:gdLst/>
            <a:ahLst/>
            <a:cxnLst/>
            <a:rect r="r" b="b" t="t" l="l"/>
            <a:pathLst>
              <a:path h="9004688" w="9924316">
                <a:moveTo>
                  <a:pt x="0" y="0"/>
                </a:moveTo>
                <a:lnTo>
                  <a:pt x="9924316" y="0"/>
                </a:lnTo>
                <a:lnTo>
                  <a:pt x="9924316" y="9004688"/>
                </a:lnTo>
                <a:lnTo>
                  <a:pt x="0" y="9004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458" y="3697639"/>
            <a:ext cx="7818345" cy="278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Missing values &amp; duplicates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03499" y="6223128"/>
            <a:ext cx="8935030" cy="8935030"/>
          </a:xfrm>
          <a:custGeom>
            <a:avLst/>
            <a:gdLst/>
            <a:ahLst/>
            <a:cxnLst/>
            <a:rect r="r" b="b" t="t" l="l"/>
            <a:pathLst>
              <a:path h="8935030" w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94211" y="-2802161"/>
            <a:ext cx="6788421" cy="6788421"/>
          </a:xfrm>
          <a:custGeom>
            <a:avLst/>
            <a:gdLst/>
            <a:ahLst/>
            <a:cxnLst/>
            <a:rect r="r" b="b" t="t" l="l"/>
            <a:pathLst>
              <a:path h="6788421" w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18750" y="592049"/>
            <a:ext cx="8640550" cy="9213856"/>
          </a:xfrm>
          <a:custGeom>
            <a:avLst/>
            <a:gdLst/>
            <a:ahLst/>
            <a:cxnLst/>
            <a:rect r="r" b="b" t="t" l="l"/>
            <a:pathLst>
              <a:path h="9213856" w="8640550">
                <a:moveTo>
                  <a:pt x="0" y="0"/>
                </a:moveTo>
                <a:lnTo>
                  <a:pt x="8640550" y="0"/>
                </a:lnTo>
                <a:lnTo>
                  <a:pt x="8640550" y="9213857"/>
                </a:lnTo>
                <a:lnTo>
                  <a:pt x="0" y="9213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3475" y="-802471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2925" y="857250"/>
            <a:ext cx="8925055" cy="110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6"/>
              </a:lnSpc>
              <a:spcBef>
                <a:spcPct val="0"/>
              </a:spcBef>
            </a:pPr>
            <a:r>
              <a:rPr lang="en-US" sz="614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3. Data Preprocessing: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104224" y="5241405"/>
            <a:ext cx="12218711" cy="12218711"/>
          </a:xfrm>
          <a:custGeom>
            <a:avLst/>
            <a:gdLst/>
            <a:ahLst/>
            <a:cxnLst/>
            <a:rect r="r" b="b" t="t" l="l"/>
            <a:pathLst>
              <a:path h="12218711" w="12218711">
                <a:moveTo>
                  <a:pt x="0" y="0"/>
                </a:moveTo>
                <a:lnTo>
                  <a:pt x="12218711" y="0"/>
                </a:lnTo>
                <a:lnTo>
                  <a:pt x="12218711" y="12218711"/>
                </a:lnTo>
                <a:lnTo>
                  <a:pt x="0" y="12218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4194" y="3113884"/>
            <a:ext cx="5700750" cy="4452971"/>
            <a:chOff x="0" y="0"/>
            <a:chExt cx="1626863" cy="12707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6863" cy="1270776"/>
            </a:xfrm>
            <a:custGeom>
              <a:avLst/>
              <a:gdLst/>
              <a:ahLst/>
              <a:cxnLst/>
              <a:rect r="r" b="b" t="t" l="l"/>
              <a:pathLst>
                <a:path h="1270776" w="1626863">
                  <a:moveTo>
                    <a:pt x="57038" y="0"/>
                  </a:moveTo>
                  <a:lnTo>
                    <a:pt x="1569825" y="0"/>
                  </a:lnTo>
                  <a:cubicBezTo>
                    <a:pt x="1584952" y="0"/>
                    <a:pt x="1599460" y="6009"/>
                    <a:pt x="1610157" y="16706"/>
                  </a:cubicBezTo>
                  <a:cubicBezTo>
                    <a:pt x="1620854" y="27403"/>
                    <a:pt x="1626863" y="41911"/>
                    <a:pt x="1626863" y="57038"/>
                  </a:cubicBezTo>
                  <a:lnTo>
                    <a:pt x="1626863" y="1213737"/>
                  </a:lnTo>
                  <a:cubicBezTo>
                    <a:pt x="1626863" y="1245239"/>
                    <a:pt x="1601326" y="1270776"/>
                    <a:pt x="1569825" y="1270776"/>
                  </a:cubicBezTo>
                  <a:lnTo>
                    <a:pt x="57038" y="1270776"/>
                  </a:lnTo>
                  <a:cubicBezTo>
                    <a:pt x="41911" y="1270776"/>
                    <a:pt x="27403" y="1264766"/>
                    <a:pt x="16706" y="1254069"/>
                  </a:cubicBezTo>
                  <a:cubicBezTo>
                    <a:pt x="6009" y="1243373"/>
                    <a:pt x="0" y="1228865"/>
                    <a:pt x="0" y="1213737"/>
                  </a:cubicBezTo>
                  <a:lnTo>
                    <a:pt x="0" y="57038"/>
                  </a:lnTo>
                  <a:cubicBezTo>
                    <a:pt x="0" y="41911"/>
                    <a:pt x="6009" y="27403"/>
                    <a:pt x="16706" y="16706"/>
                  </a:cubicBezTo>
                  <a:cubicBezTo>
                    <a:pt x="27403" y="6009"/>
                    <a:pt x="41911" y="0"/>
                    <a:pt x="570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26863" cy="1318401"/>
            </a:xfrm>
            <a:prstGeom prst="rect">
              <a:avLst/>
            </a:prstGeom>
          </p:spPr>
          <p:txBody>
            <a:bodyPr anchor="ctr" rtlCol="false" tIns="54662" lIns="54662" bIns="54662" rIns="54662"/>
            <a:lstStyle/>
            <a:p>
              <a:pPr algn="ctr" marL="0" indent="0" lvl="0">
                <a:lnSpc>
                  <a:spcPts val="31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2898" y="4423335"/>
            <a:ext cx="5483343" cy="15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6"/>
              </a:lnSpc>
              <a:spcBef>
                <a:spcPct val="0"/>
              </a:spcBef>
            </a:pPr>
            <a:r>
              <a:rPr lang="en-US" sz="303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Ha</a:t>
            </a:r>
            <a:r>
              <a:rPr lang="en-US" sz="303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ndle missing data using techniques such as imputation or removal.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07705" y="3113884"/>
            <a:ext cx="5700750" cy="4452971"/>
            <a:chOff x="0" y="0"/>
            <a:chExt cx="1626863" cy="12707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6863" cy="1270776"/>
            </a:xfrm>
            <a:custGeom>
              <a:avLst/>
              <a:gdLst/>
              <a:ahLst/>
              <a:cxnLst/>
              <a:rect r="r" b="b" t="t" l="l"/>
              <a:pathLst>
                <a:path h="1270776" w="1626863">
                  <a:moveTo>
                    <a:pt x="57038" y="0"/>
                  </a:moveTo>
                  <a:lnTo>
                    <a:pt x="1569825" y="0"/>
                  </a:lnTo>
                  <a:cubicBezTo>
                    <a:pt x="1584952" y="0"/>
                    <a:pt x="1599460" y="6009"/>
                    <a:pt x="1610157" y="16706"/>
                  </a:cubicBezTo>
                  <a:cubicBezTo>
                    <a:pt x="1620854" y="27403"/>
                    <a:pt x="1626863" y="41911"/>
                    <a:pt x="1626863" y="57038"/>
                  </a:cubicBezTo>
                  <a:lnTo>
                    <a:pt x="1626863" y="1213737"/>
                  </a:lnTo>
                  <a:cubicBezTo>
                    <a:pt x="1626863" y="1245239"/>
                    <a:pt x="1601326" y="1270776"/>
                    <a:pt x="1569825" y="1270776"/>
                  </a:cubicBezTo>
                  <a:lnTo>
                    <a:pt x="57038" y="1270776"/>
                  </a:lnTo>
                  <a:cubicBezTo>
                    <a:pt x="41911" y="1270776"/>
                    <a:pt x="27403" y="1264766"/>
                    <a:pt x="16706" y="1254069"/>
                  </a:cubicBezTo>
                  <a:cubicBezTo>
                    <a:pt x="6009" y="1243373"/>
                    <a:pt x="0" y="1228865"/>
                    <a:pt x="0" y="1213737"/>
                  </a:cubicBezTo>
                  <a:lnTo>
                    <a:pt x="0" y="57038"/>
                  </a:lnTo>
                  <a:cubicBezTo>
                    <a:pt x="0" y="41911"/>
                    <a:pt x="6009" y="27403"/>
                    <a:pt x="16706" y="16706"/>
                  </a:cubicBezTo>
                  <a:cubicBezTo>
                    <a:pt x="27403" y="6009"/>
                    <a:pt x="41911" y="0"/>
                    <a:pt x="570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26863" cy="1318401"/>
            </a:xfrm>
            <a:prstGeom prst="rect">
              <a:avLst/>
            </a:prstGeom>
          </p:spPr>
          <p:txBody>
            <a:bodyPr anchor="ctr" rtlCol="false" tIns="54662" lIns="54662" bIns="54662" rIns="54662"/>
            <a:lstStyle/>
            <a:p>
              <a:pPr algn="ctr" marL="0" indent="0" lvl="0">
                <a:lnSpc>
                  <a:spcPts val="313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4934" y="3143116"/>
            <a:ext cx="5700750" cy="4452971"/>
            <a:chOff x="0" y="0"/>
            <a:chExt cx="1626863" cy="12707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6863" cy="1270776"/>
            </a:xfrm>
            <a:custGeom>
              <a:avLst/>
              <a:gdLst/>
              <a:ahLst/>
              <a:cxnLst/>
              <a:rect r="r" b="b" t="t" l="l"/>
              <a:pathLst>
                <a:path h="1270776" w="1626863">
                  <a:moveTo>
                    <a:pt x="57038" y="0"/>
                  </a:moveTo>
                  <a:lnTo>
                    <a:pt x="1569825" y="0"/>
                  </a:lnTo>
                  <a:cubicBezTo>
                    <a:pt x="1584952" y="0"/>
                    <a:pt x="1599460" y="6009"/>
                    <a:pt x="1610157" y="16706"/>
                  </a:cubicBezTo>
                  <a:cubicBezTo>
                    <a:pt x="1620854" y="27403"/>
                    <a:pt x="1626863" y="41911"/>
                    <a:pt x="1626863" y="57038"/>
                  </a:cubicBezTo>
                  <a:lnTo>
                    <a:pt x="1626863" y="1213737"/>
                  </a:lnTo>
                  <a:cubicBezTo>
                    <a:pt x="1626863" y="1245239"/>
                    <a:pt x="1601326" y="1270776"/>
                    <a:pt x="1569825" y="1270776"/>
                  </a:cubicBezTo>
                  <a:lnTo>
                    <a:pt x="57038" y="1270776"/>
                  </a:lnTo>
                  <a:cubicBezTo>
                    <a:pt x="41911" y="1270776"/>
                    <a:pt x="27403" y="1264766"/>
                    <a:pt x="16706" y="1254069"/>
                  </a:cubicBezTo>
                  <a:cubicBezTo>
                    <a:pt x="6009" y="1243373"/>
                    <a:pt x="0" y="1228865"/>
                    <a:pt x="0" y="1213737"/>
                  </a:cubicBezTo>
                  <a:lnTo>
                    <a:pt x="0" y="57038"/>
                  </a:lnTo>
                  <a:cubicBezTo>
                    <a:pt x="0" y="41911"/>
                    <a:pt x="6009" y="27403"/>
                    <a:pt x="16706" y="16706"/>
                  </a:cubicBezTo>
                  <a:cubicBezTo>
                    <a:pt x="27403" y="6009"/>
                    <a:pt x="41911" y="0"/>
                    <a:pt x="570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26863" cy="1318401"/>
            </a:xfrm>
            <a:prstGeom prst="rect">
              <a:avLst/>
            </a:prstGeom>
          </p:spPr>
          <p:txBody>
            <a:bodyPr anchor="ctr" rtlCol="false" tIns="54662" lIns="54662" bIns="54662" rIns="54662"/>
            <a:lstStyle/>
            <a:p>
              <a:pPr algn="ctr" marL="0" indent="0" lvl="0">
                <a:lnSpc>
                  <a:spcPts val="31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55508" y="4266140"/>
            <a:ext cx="5308864" cy="16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4"/>
              </a:lnSpc>
              <a:spcBef>
                <a:spcPct val="0"/>
              </a:spcBef>
            </a:pPr>
            <a:r>
              <a:rPr lang="en-US" sz="310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Normalize or standardize data for model compatibility.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7551" y="3994552"/>
            <a:ext cx="4575517" cy="26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4"/>
              </a:lnSpc>
              <a:spcBef>
                <a:spcPct val="0"/>
              </a:spcBef>
            </a:pPr>
            <a:r>
              <a:rPr lang="en-US" sz="310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Encode ca</a:t>
            </a:r>
            <a:r>
              <a:rPr lang="en-US" sz="310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tegorical variables if necessary (e.g., encoding medical conditions or diagnoses).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3475" y="-802471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04244" y="6732736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57626" y="2448295"/>
            <a:ext cx="9492880" cy="7339716"/>
          </a:xfrm>
          <a:custGeom>
            <a:avLst/>
            <a:gdLst/>
            <a:ahLst/>
            <a:cxnLst/>
            <a:rect r="r" b="b" t="t" l="l"/>
            <a:pathLst>
              <a:path h="7339716" w="9492880">
                <a:moveTo>
                  <a:pt x="0" y="0"/>
                </a:moveTo>
                <a:lnTo>
                  <a:pt x="9492880" y="0"/>
                </a:lnTo>
                <a:lnTo>
                  <a:pt x="9492880" y="7339716"/>
                </a:lnTo>
                <a:lnTo>
                  <a:pt x="0" y="7339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219" y="809625"/>
            <a:ext cx="13081693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Handling missing values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6175" y="3771371"/>
            <a:ext cx="16139260" cy="16139260"/>
          </a:xfrm>
          <a:custGeom>
            <a:avLst/>
            <a:gdLst/>
            <a:ahLst/>
            <a:cxnLst/>
            <a:rect r="r" b="b" t="t" l="l"/>
            <a:pathLst>
              <a:path h="16139260" w="16139260">
                <a:moveTo>
                  <a:pt x="0" y="0"/>
                </a:moveTo>
                <a:lnTo>
                  <a:pt x="16139261" y="0"/>
                </a:lnTo>
                <a:lnTo>
                  <a:pt x="16139261" y="16139261"/>
                </a:lnTo>
                <a:lnTo>
                  <a:pt x="0" y="1613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5301" y="-3090277"/>
            <a:ext cx="6861649" cy="6861649"/>
          </a:xfrm>
          <a:custGeom>
            <a:avLst/>
            <a:gdLst/>
            <a:ahLst/>
            <a:cxnLst/>
            <a:rect r="r" b="b" t="t" l="l"/>
            <a:pathLst>
              <a:path h="6861649" w="6861649">
                <a:moveTo>
                  <a:pt x="0" y="0"/>
                </a:moveTo>
                <a:lnTo>
                  <a:pt x="6861648" y="0"/>
                </a:lnTo>
                <a:lnTo>
                  <a:pt x="6861648" y="6861648"/>
                </a:lnTo>
                <a:lnTo>
                  <a:pt x="0" y="686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32656" y="2271849"/>
            <a:ext cx="12222687" cy="5743302"/>
            <a:chOff x="0" y="0"/>
            <a:chExt cx="2802601" cy="13169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2601" cy="1316910"/>
            </a:xfrm>
            <a:custGeom>
              <a:avLst/>
              <a:gdLst/>
              <a:ahLst/>
              <a:cxnLst/>
              <a:rect r="r" b="b" t="t" l="l"/>
              <a:pathLst>
                <a:path h="1316910" w="2802601">
                  <a:moveTo>
                    <a:pt x="8234" y="0"/>
                  </a:moveTo>
                  <a:lnTo>
                    <a:pt x="2794367" y="0"/>
                  </a:lnTo>
                  <a:cubicBezTo>
                    <a:pt x="2798914" y="0"/>
                    <a:pt x="2802601" y="3687"/>
                    <a:pt x="2802601" y="8234"/>
                  </a:cubicBezTo>
                  <a:lnTo>
                    <a:pt x="2802601" y="1308676"/>
                  </a:lnTo>
                  <a:cubicBezTo>
                    <a:pt x="2802601" y="1313224"/>
                    <a:pt x="2798914" y="1316910"/>
                    <a:pt x="2794367" y="1316910"/>
                  </a:cubicBezTo>
                  <a:lnTo>
                    <a:pt x="8234" y="1316910"/>
                  </a:lnTo>
                  <a:cubicBezTo>
                    <a:pt x="3687" y="1316910"/>
                    <a:pt x="0" y="1313224"/>
                    <a:pt x="0" y="1308676"/>
                  </a:cubicBezTo>
                  <a:lnTo>
                    <a:pt x="0" y="8234"/>
                  </a:lnTo>
                  <a:cubicBezTo>
                    <a:pt x="0" y="3687"/>
                    <a:pt x="3687" y="0"/>
                    <a:pt x="8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2802601" cy="150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687"/>
                </a:lnSpc>
                <a:spcBef>
                  <a:spcPct val="0"/>
                </a:spcBef>
              </a:pPr>
              <a:r>
                <a:rPr lang="en-US" sz="6919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Mile</a:t>
              </a:r>
              <a:r>
                <a:rPr lang="en-US" sz="6919" strike="noStrike" u="none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stone 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58789" y="5974909"/>
            <a:ext cx="7170421" cy="48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00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 Data Analysis and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44019" y="-8024716"/>
            <a:ext cx="16835464" cy="16835464"/>
          </a:xfrm>
          <a:custGeom>
            <a:avLst/>
            <a:gdLst/>
            <a:ahLst/>
            <a:cxnLst/>
            <a:rect r="r" b="b" t="t" l="l"/>
            <a:pathLst>
              <a:path h="16835464" w="16835464">
                <a:moveTo>
                  <a:pt x="0" y="0"/>
                </a:moveTo>
                <a:lnTo>
                  <a:pt x="16835464" y="0"/>
                </a:lnTo>
                <a:lnTo>
                  <a:pt x="16835464" y="16835464"/>
                </a:lnTo>
                <a:lnTo>
                  <a:pt x="0" y="16835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96809" y="893646"/>
            <a:ext cx="6119876" cy="6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8"/>
              </a:lnSpc>
              <a:spcBef>
                <a:spcPct val="0"/>
              </a:spcBef>
            </a:pPr>
            <a:r>
              <a:rPr lang="en-US" sz="3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1. Data Cleaning: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18727" y="9112012"/>
            <a:ext cx="5275995" cy="536815"/>
          </a:xfrm>
          <a:custGeom>
            <a:avLst/>
            <a:gdLst/>
            <a:ahLst/>
            <a:cxnLst/>
            <a:rect r="r" b="b" t="t" l="l"/>
            <a:pathLst>
              <a:path h="536815" w="5275995">
                <a:moveTo>
                  <a:pt x="0" y="0"/>
                </a:moveTo>
                <a:lnTo>
                  <a:pt x="5275995" y="0"/>
                </a:lnTo>
                <a:lnTo>
                  <a:pt x="5275995" y="536815"/>
                </a:lnTo>
                <a:lnTo>
                  <a:pt x="0" y="536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109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73713" y="1028700"/>
            <a:ext cx="5522772" cy="8229600"/>
            <a:chOff x="0" y="0"/>
            <a:chExt cx="3663950" cy="5459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3600450" cy="5396230"/>
            </a:xfrm>
            <a:custGeom>
              <a:avLst/>
              <a:gdLst/>
              <a:ahLst/>
              <a:cxnLst/>
              <a:rect r="r" b="b" t="t" l="l"/>
              <a:pathLst>
                <a:path h="5396230" w="3600450">
                  <a:moveTo>
                    <a:pt x="3600450" y="5036820"/>
                  </a:moveTo>
                  <a:cubicBezTo>
                    <a:pt x="3600450" y="5236210"/>
                    <a:pt x="3439160" y="5396230"/>
                    <a:pt x="3241040" y="5396230"/>
                  </a:cubicBezTo>
                  <a:lnTo>
                    <a:pt x="359410" y="5396230"/>
                  </a:lnTo>
                  <a:cubicBezTo>
                    <a:pt x="160020" y="5396230"/>
                    <a:pt x="0" y="5234940"/>
                    <a:pt x="0" y="503682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5036820"/>
                  </a:lnTo>
                  <a:close/>
                </a:path>
              </a:pathLst>
            </a:custGeom>
            <a:blipFill>
              <a:blip r:embed="rId5"/>
              <a:stretch>
                <a:fillRect l="-62477" t="0" r="-62477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3950" cy="5459730"/>
            </a:xfrm>
            <a:custGeom>
              <a:avLst/>
              <a:gdLst/>
              <a:ahLst/>
              <a:cxnLst/>
              <a:rect r="r" b="b" t="t" l="l"/>
              <a:pathLst>
                <a:path h="5459730" w="3663950">
                  <a:moveTo>
                    <a:pt x="3271520" y="5459730"/>
                  </a:moveTo>
                  <a:lnTo>
                    <a:pt x="391160" y="5459730"/>
                  </a:lnTo>
                  <a:cubicBezTo>
                    <a:pt x="175260" y="5459730"/>
                    <a:pt x="0" y="5284470"/>
                    <a:pt x="0" y="506857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5067300"/>
                  </a:lnTo>
                  <a:cubicBezTo>
                    <a:pt x="3663950" y="5284470"/>
                    <a:pt x="3487420" y="5459730"/>
                    <a:pt x="3271520" y="545973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5067300"/>
                  </a:lnTo>
                  <a:cubicBezTo>
                    <a:pt x="63500" y="5248910"/>
                    <a:pt x="210820" y="5394960"/>
                    <a:pt x="391160" y="5394960"/>
                  </a:cubicBezTo>
                  <a:lnTo>
                    <a:pt x="3271520" y="5394960"/>
                  </a:lnTo>
                  <a:cubicBezTo>
                    <a:pt x="3453130" y="5394960"/>
                    <a:pt x="3599180" y="5247640"/>
                    <a:pt x="3599180" y="506730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7CB3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794722" y="1689297"/>
            <a:ext cx="11071585" cy="126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ontinue the cleaning process by addressing any remaining missing values, outliers, and inconsistencies.</a:t>
            </a:r>
          </a:p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Normalize or apply transformations to ensure the data is model-ready.</a:t>
            </a:r>
          </a:p>
        </p:txBody>
      </p:sp>
      <p:sp>
        <p:nvSpPr>
          <p:cNvPr name="AutoShape 9" id="9"/>
          <p:cNvSpPr/>
          <p:nvPr/>
        </p:nvSpPr>
        <p:spPr>
          <a:xfrm>
            <a:off x="6996809" y="3156116"/>
            <a:ext cx="777276" cy="0"/>
          </a:xfrm>
          <a:prstGeom prst="line">
            <a:avLst/>
          </a:prstGeom>
          <a:ln cap="rnd" w="85725">
            <a:solidFill>
              <a:srgbClr val="8EB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7022276" y="6379419"/>
            <a:ext cx="751808" cy="0"/>
          </a:xfrm>
          <a:prstGeom prst="line">
            <a:avLst/>
          </a:prstGeom>
          <a:ln cap="rnd" w="85725">
            <a:solidFill>
              <a:srgbClr val="8EB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996809" y="4055351"/>
            <a:ext cx="10869498" cy="211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Analyz</a:t>
            </a: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e relationships between health metrics and outcomes (e.g., the risk of disease or patient recovery).</a:t>
            </a:r>
          </a:p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Use statistical methods such as correlation analysis, hypothesis testing, or feature importance analysis to identify key factors affecting healthcare outcomes.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94722" y="7278655"/>
            <a:ext cx="11071585" cy="254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reate compelling visualizations like heatmaps, trend lines, and scatter plots to highlight trends, outliers, and significant patterns in health metrics. </a:t>
            </a:r>
          </a:p>
          <a:p>
            <a:pPr algn="just" marL="526522" indent="-263261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Develop interactive dashboards or charts (using tools like Plotly, Dash, or Tableau) to enable stakeholders to easily view and interpret the data.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644650" y="8639630"/>
            <a:ext cx="5286700" cy="5286700"/>
          </a:xfrm>
          <a:custGeom>
            <a:avLst/>
            <a:gdLst/>
            <a:ahLst/>
            <a:cxnLst/>
            <a:rect r="r" b="b" t="t" l="l"/>
            <a:pathLst>
              <a:path h="5286700" w="5286700">
                <a:moveTo>
                  <a:pt x="0" y="0"/>
                </a:moveTo>
                <a:lnTo>
                  <a:pt x="5286700" y="0"/>
                </a:lnTo>
                <a:lnTo>
                  <a:pt x="5286700" y="5286700"/>
                </a:lnTo>
                <a:lnTo>
                  <a:pt x="0" y="528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96809" y="3256128"/>
            <a:ext cx="6119876" cy="6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8"/>
              </a:lnSpc>
              <a:spcBef>
                <a:spcPct val="0"/>
              </a:spcBef>
            </a:pPr>
            <a:r>
              <a:rPr lang="en-US" sz="3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2. Data Analysis: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6809" y="6479432"/>
            <a:ext cx="6119876" cy="6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8"/>
              </a:lnSpc>
              <a:spcBef>
                <a:spcPct val="0"/>
              </a:spcBef>
            </a:pPr>
            <a:r>
              <a:rPr lang="en-US" sz="3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3. Data Visualization: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2854238"/>
            <a:ext cx="13586864" cy="6643376"/>
          </a:xfrm>
          <a:custGeom>
            <a:avLst/>
            <a:gdLst/>
            <a:ahLst/>
            <a:cxnLst/>
            <a:rect r="r" b="b" t="t" l="l"/>
            <a:pathLst>
              <a:path h="6643376" w="13586864">
                <a:moveTo>
                  <a:pt x="0" y="0"/>
                </a:moveTo>
                <a:lnTo>
                  <a:pt x="13586864" y="0"/>
                </a:lnTo>
                <a:lnTo>
                  <a:pt x="13586864" y="6643377"/>
                </a:lnTo>
                <a:lnTo>
                  <a:pt x="0" y="6643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723" y="1050344"/>
            <a:ext cx="12074553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Distribution of age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3374370"/>
            <a:ext cx="13586864" cy="6643376"/>
          </a:xfrm>
          <a:custGeom>
            <a:avLst/>
            <a:gdLst/>
            <a:ahLst/>
            <a:cxnLst/>
            <a:rect r="r" b="b" t="t" l="l"/>
            <a:pathLst>
              <a:path h="6643376" w="13586864">
                <a:moveTo>
                  <a:pt x="0" y="0"/>
                </a:moveTo>
                <a:lnTo>
                  <a:pt x="13586864" y="0"/>
                </a:lnTo>
                <a:lnTo>
                  <a:pt x="13586864" y="6643376"/>
                </a:lnTo>
                <a:lnTo>
                  <a:pt x="0" y="664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9" t="0" r="-54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723" y="529891"/>
            <a:ext cx="12074553" cy="248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78"/>
              </a:lnSpc>
              <a:spcBef>
                <a:spcPct val="0"/>
              </a:spcBef>
            </a:pPr>
            <a:r>
              <a:rPr lang="en-US" sz="69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Distribution of average glucose level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2614924"/>
            <a:ext cx="13586864" cy="6643376"/>
          </a:xfrm>
          <a:custGeom>
            <a:avLst/>
            <a:gdLst/>
            <a:ahLst/>
            <a:cxnLst/>
            <a:rect r="r" b="b" t="t" l="l"/>
            <a:pathLst>
              <a:path h="6643376" w="13586864">
                <a:moveTo>
                  <a:pt x="0" y="0"/>
                </a:moveTo>
                <a:lnTo>
                  <a:pt x="13586864" y="0"/>
                </a:lnTo>
                <a:lnTo>
                  <a:pt x="13586864" y="6643376"/>
                </a:lnTo>
                <a:lnTo>
                  <a:pt x="0" y="664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3" r="0" b="-9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723" y="529891"/>
            <a:ext cx="12074553" cy="125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78"/>
              </a:lnSpc>
              <a:spcBef>
                <a:spcPct val="0"/>
              </a:spcBef>
            </a:pPr>
            <a:r>
              <a:rPr lang="en-US" sz="69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Distribution of BMI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2759405"/>
            <a:ext cx="13586864" cy="6498895"/>
          </a:xfrm>
          <a:custGeom>
            <a:avLst/>
            <a:gdLst/>
            <a:ahLst/>
            <a:cxnLst/>
            <a:rect r="r" b="b" t="t" l="l"/>
            <a:pathLst>
              <a:path h="6498895" w="13586864">
                <a:moveTo>
                  <a:pt x="0" y="0"/>
                </a:moveTo>
                <a:lnTo>
                  <a:pt x="13586864" y="0"/>
                </a:lnTo>
                <a:lnTo>
                  <a:pt x="13586864" y="6498895"/>
                </a:lnTo>
                <a:lnTo>
                  <a:pt x="0" y="6498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0" t="-2223" r="-7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723" y="529891"/>
            <a:ext cx="12074553" cy="125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78"/>
              </a:lnSpc>
              <a:spcBef>
                <a:spcPct val="0"/>
              </a:spcBef>
            </a:pPr>
            <a:r>
              <a:rPr lang="en-US" sz="69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 Stroke count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2239274"/>
            <a:ext cx="13586864" cy="7019026"/>
          </a:xfrm>
          <a:custGeom>
            <a:avLst/>
            <a:gdLst/>
            <a:ahLst/>
            <a:cxnLst/>
            <a:rect r="r" b="b" t="t" l="l"/>
            <a:pathLst>
              <a:path h="7019026" w="13586864">
                <a:moveTo>
                  <a:pt x="0" y="0"/>
                </a:moveTo>
                <a:lnTo>
                  <a:pt x="13586864" y="0"/>
                </a:lnTo>
                <a:lnTo>
                  <a:pt x="13586864" y="7019026"/>
                </a:lnTo>
                <a:lnTo>
                  <a:pt x="0" y="7019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0" r="0" b="-80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723" y="529891"/>
            <a:ext cx="12074553" cy="125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78"/>
              </a:lnSpc>
              <a:spcBef>
                <a:spcPct val="0"/>
              </a:spcBef>
            </a:pPr>
            <a:r>
              <a:rPr lang="en-US" sz="69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Work types count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4074" y="1420447"/>
            <a:ext cx="15619852" cy="8866553"/>
          </a:xfrm>
          <a:custGeom>
            <a:avLst/>
            <a:gdLst/>
            <a:ahLst/>
            <a:cxnLst/>
            <a:rect r="r" b="b" t="t" l="l"/>
            <a:pathLst>
              <a:path h="8866553" w="15619852">
                <a:moveTo>
                  <a:pt x="0" y="0"/>
                </a:moveTo>
                <a:lnTo>
                  <a:pt x="15619852" y="0"/>
                </a:lnTo>
                <a:lnTo>
                  <a:pt x="15619852" y="8866553"/>
                </a:lnTo>
                <a:lnTo>
                  <a:pt x="0" y="8866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4" t="0" r="-754" b="-761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6527" y="202122"/>
            <a:ext cx="13634947" cy="121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98"/>
              </a:lnSpc>
              <a:spcBef>
                <a:spcPct val="0"/>
              </a:spcBef>
            </a:pPr>
            <a:r>
              <a:rPr lang="en-US" sz="6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Correlation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68" y="3019486"/>
            <a:ext cx="13586864" cy="7019026"/>
          </a:xfrm>
          <a:custGeom>
            <a:avLst/>
            <a:gdLst/>
            <a:ahLst/>
            <a:cxnLst/>
            <a:rect r="r" b="b" t="t" l="l"/>
            <a:pathLst>
              <a:path h="7019026" w="13586864">
                <a:moveTo>
                  <a:pt x="0" y="0"/>
                </a:moveTo>
                <a:lnTo>
                  <a:pt x="13586864" y="0"/>
                </a:lnTo>
                <a:lnTo>
                  <a:pt x="13586864" y="7019026"/>
                </a:lnTo>
                <a:lnTo>
                  <a:pt x="0" y="7019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22" t="0" r="-242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0568" y="327618"/>
            <a:ext cx="13634947" cy="241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98"/>
              </a:lnSpc>
              <a:spcBef>
                <a:spcPct val="0"/>
              </a:spcBef>
            </a:pPr>
            <a:r>
              <a:rPr lang="en-US" sz="6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Relation between the age and having a stroke or not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6175" y="3771371"/>
            <a:ext cx="16139260" cy="16139260"/>
          </a:xfrm>
          <a:custGeom>
            <a:avLst/>
            <a:gdLst/>
            <a:ahLst/>
            <a:cxnLst/>
            <a:rect r="r" b="b" t="t" l="l"/>
            <a:pathLst>
              <a:path h="16139260" w="16139260">
                <a:moveTo>
                  <a:pt x="0" y="0"/>
                </a:moveTo>
                <a:lnTo>
                  <a:pt x="16139261" y="0"/>
                </a:lnTo>
                <a:lnTo>
                  <a:pt x="16139261" y="16139261"/>
                </a:lnTo>
                <a:lnTo>
                  <a:pt x="0" y="1613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5301" y="-3090277"/>
            <a:ext cx="6861649" cy="6861649"/>
          </a:xfrm>
          <a:custGeom>
            <a:avLst/>
            <a:gdLst/>
            <a:ahLst/>
            <a:cxnLst/>
            <a:rect r="r" b="b" t="t" l="l"/>
            <a:pathLst>
              <a:path h="6861649" w="6861649">
                <a:moveTo>
                  <a:pt x="0" y="0"/>
                </a:moveTo>
                <a:lnTo>
                  <a:pt x="6861648" y="0"/>
                </a:lnTo>
                <a:lnTo>
                  <a:pt x="6861648" y="6861648"/>
                </a:lnTo>
                <a:lnTo>
                  <a:pt x="0" y="686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32656" y="2271849"/>
            <a:ext cx="12222687" cy="5743302"/>
            <a:chOff x="0" y="0"/>
            <a:chExt cx="2802601" cy="13169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2601" cy="1316910"/>
            </a:xfrm>
            <a:custGeom>
              <a:avLst/>
              <a:gdLst/>
              <a:ahLst/>
              <a:cxnLst/>
              <a:rect r="r" b="b" t="t" l="l"/>
              <a:pathLst>
                <a:path h="1316910" w="2802601">
                  <a:moveTo>
                    <a:pt x="8234" y="0"/>
                  </a:moveTo>
                  <a:lnTo>
                    <a:pt x="2794367" y="0"/>
                  </a:lnTo>
                  <a:cubicBezTo>
                    <a:pt x="2798914" y="0"/>
                    <a:pt x="2802601" y="3687"/>
                    <a:pt x="2802601" y="8234"/>
                  </a:cubicBezTo>
                  <a:lnTo>
                    <a:pt x="2802601" y="1308676"/>
                  </a:lnTo>
                  <a:cubicBezTo>
                    <a:pt x="2802601" y="1313224"/>
                    <a:pt x="2798914" y="1316910"/>
                    <a:pt x="2794367" y="1316910"/>
                  </a:cubicBezTo>
                  <a:lnTo>
                    <a:pt x="8234" y="1316910"/>
                  </a:lnTo>
                  <a:cubicBezTo>
                    <a:pt x="3687" y="1316910"/>
                    <a:pt x="0" y="1313224"/>
                    <a:pt x="0" y="1308676"/>
                  </a:cubicBezTo>
                  <a:lnTo>
                    <a:pt x="0" y="8234"/>
                  </a:lnTo>
                  <a:cubicBezTo>
                    <a:pt x="0" y="3687"/>
                    <a:pt x="3687" y="0"/>
                    <a:pt x="8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2802601" cy="150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687"/>
                </a:lnSpc>
                <a:spcBef>
                  <a:spcPct val="0"/>
                </a:spcBef>
              </a:pPr>
              <a:r>
                <a:rPr lang="en-US" sz="6919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Mile</a:t>
              </a:r>
              <a:r>
                <a:rPr lang="en-US" sz="6919" strike="noStrike" u="none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stone 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58789" y="5974909"/>
            <a:ext cx="7170421" cy="94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00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Predictive Model Development and Optimization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80596" y="-3863576"/>
            <a:ext cx="16835464" cy="16835464"/>
          </a:xfrm>
          <a:custGeom>
            <a:avLst/>
            <a:gdLst/>
            <a:ahLst/>
            <a:cxnLst/>
            <a:rect r="r" b="b" t="t" l="l"/>
            <a:pathLst>
              <a:path h="16835464" w="16835464">
                <a:moveTo>
                  <a:pt x="0" y="0"/>
                </a:moveTo>
                <a:lnTo>
                  <a:pt x="16835465" y="0"/>
                </a:lnTo>
                <a:lnTo>
                  <a:pt x="16835465" y="16835464"/>
                </a:lnTo>
                <a:lnTo>
                  <a:pt x="0" y="16835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85873" y="3034079"/>
            <a:ext cx="10357980" cy="10357980"/>
          </a:xfrm>
          <a:custGeom>
            <a:avLst/>
            <a:gdLst/>
            <a:ahLst/>
            <a:cxnLst/>
            <a:rect r="r" b="b" t="t" l="l"/>
            <a:pathLst>
              <a:path h="10357980" w="10357980">
                <a:moveTo>
                  <a:pt x="0" y="0"/>
                </a:moveTo>
                <a:lnTo>
                  <a:pt x="10357980" y="0"/>
                </a:lnTo>
                <a:lnTo>
                  <a:pt x="10357980" y="10357980"/>
                </a:lnTo>
                <a:lnTo>
                  <a:pt x="0" y="1035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2985" y="1000169"/>
            <a:ext cx="17042029" cy="8255545"/>
            <a:chOff x="0" y="0"/>
            <a:chExt cx="22722706" cy="110073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6732" y="-114300"/>
              <a:ext cx="7937426" cy="89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1"/>
                </a:lnSpc>
                <a:spcBef>
                  <a:spcPct val="0"/>
                </a:spcBef>
              </a:pPr>
              <a:r>
                <a:rPr lang="en-US" sz="389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1. Model Selection: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55079" y="869335"/>
              <a:ext cx="22267626" cy="1140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</a:t>
              </a: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oose suitable machine learning algorithms based on the nature of the problem</a:t>
              </a:r>
            </a:p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Consider both supervised models and unsupervised models  depending on the data and goals. 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296181" y="2212437"/>
              <a:ext cx="8016875" cy="0"/>
            </a:xfrm>
            <a:prstGeom prst="line">
              <a:avLst/>
            </a:prstGeom>
            <a:ln cap="rnd" w="117594">
              <a:solidFill>
                <a:srgbClr val="8EBD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16732" y="5211597"/>
              <a:ext cx="7857977" cy="0"/>
            </a:xfrm>
            <a:prstGeom prst="line">
              <a:avLst/>
            </a:prstGeom>
            <a:ln cap="rnd" w="117594">
              <a:solidFill>
                <a:srgbClr val="8EBD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3284295"/>
              <a:ext cx="21930081" cy="1724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Split</a:t>
              </a: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the data into training and testing sets, ensuring proper time-series validation (if applicable). </a:t>
              </a:r>
            </a:p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Train models on the training data and evaluate their performance on the test set. </a:t>
              </a:r>
            </a:p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 cross-validation to assess model generalization and avoid overfitting.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16732" y="6283455"/>
              <a:ext cx="22009530" cy="1724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</a:t>
              </a: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 relevant evaluation metrics for the models, such as accuracy, precision, recall, F1-score, ROC-AUC for classification models.</a:t>
              </a:r>
            </a:p>
            <a:p>
              <a:pPr algn="l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Evaluate confusion matrices to understand model performance on false positives and false negatives.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16732" y="2300660"/>
              <a:ext cx="7937426" cy="89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1"/>
                </a:lnSpc>
                <a:spcBef>
                  <a:spcPct val="0"/>
                </a:spcBef>
              </a:pPr>
              <a:r>
                <a:rPr lang="en-US" sz="389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2. Model Training: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16732" y="5299820"/>
              <a:ext cx="7937426" cy="89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1"/>
                </a:lnSpc>
                <a:spcBef>
                  <a:spcPct val="0"/>
                </a:spcBef>
              </a:pPr>
              <a:r>
                <a:rPr lang="en-US" sz="389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3. Model Evaluation: 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216732" y="8210757"/>
              <a:ext cx="7857977" cy="0"/>
            </a:xfrm>
            <a:prstGeom prst="line">
              <a:avLst/>
            </a:prstGeom>
            <a:ln cap="rnd" w="117594">
              <a:solidFill>
                <a:srgbClr val="8EBD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216732" y="8298980"/>
              <a:ext cx="7937426" cy="89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1"/>
                </a:lnSpc>
                <a:spcBef>
                  <a:spcPct val="0"/>
                </a:spcBef>
              </a:pPr>
              <a:r>
                <a:rPr lang="en-US" sz="389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4. Model Optimization: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55079" y="9282615"/>
              <a:ext cx="22009530" cy="1724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</a:t>
              </a: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 hyperparameter tuning methods such as Grid Search or Random Search to optimize model performance.</a:t>
              </a:r>
            </a:p>
            <a:p>
              <a:pPr algn="just" marL="541697" indent="-270849" lvl="1">
                <a:lnSpc>
                  <a:spcPts val="3512"/>
                </a:lnSpc>
                <a:buFont typeface="Arial"/>
                <a:buChar char="•"/>
              </a:pPr>
              <a:r>
                <a:rPr lang="en-US" sz="2509">
                  <a:solidFill>
                    <a:srgbClr val="050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Fine-tune the models to increase prediction accuracy and avoid overfitting.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802" y="4439888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02196" y="4557717"/>
            <a:ext cx="10512420" cy="1811534"/>
          </a:xfrm>
          <a:custGeom>
            <a:avLst/>
            <a:gdLst/>
            <a:ahLst/>
            <a:cxnLst/>
            <a:rect r="r" b="b" t="t" l="l"/>
            <a:pathLst>
              <a:path h="1811534" w="10512420">
                <a:moveTo>
                  <a:pt x="0" y="0"/>
                </a:moveTo>
                <a:lnTo>
                  <a:pt x="10512420" y="0"/>
                </a:lnTo>
                <a:lnTo>
                  <a:pt x="10512420" y="1811533"/>
                </a:lnTo>
                <a:lnTo>
                  <a:pt x="0" y="1811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858" b="-1113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66285"/>
            <a:ext cx="10097107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Select the features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98" y="2651545"/>
            <a:ext cx="9405471" cy="1098341"/>
            <a:chOff x="0" y="0"/>
            <a:chExt cx="2684105" cy="313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4105" cy="313441"/>
            </a:xfrm>
            <a:custGeom>
              <a:avLst/>
              <a:gdLst/>
              <a:ahLst/>
              <a:cxnLst/>
              <a:rect r="r" b="b" t="t" l="l"/>
              <a:pathLst>
                <a:path h="313441" w="2684105">
                  <a:moveTo>
                    <a:pt x="34571" y="0"/>
                  </a:moveTo>
                  <a:lnTo>
                    <a:pt x="2649534" y="0"/>
                  </a:lnTo>
                  <a:cubicBezTo>
                    <a:pt x="2658702" y="0"/>
                    <a:pt x="2667496" y="3642"/>
                    <a:pt x="2673979" y="10126"/>
                  </a:cubicBezTo>
                  <a:cubicBezTo>
                    <a:pt x="2680463" y="16609"/>
                    <a:pt x="2684105" y="25403"/>
                    <a:pt x="2684105" y="34571"/>
                  </a:cubicBezTo>
                  <a:lnTo>
                    <a:pt x="2684105" y="278870"/>
                  </a:lnTo>
                  <a:cubicBezTo>
                    <a:pt x="2684105" y="288039"/>
                    <a:pt x="2680463" y="296832"/>
                    <a:pt x="2673979" y="303316"/>
                  </a:cubicBezTo>
                  <a:cubicBezTo>
                    <a:pt x="2667496" y="309799"/>
                    <a:pt x="2658702" y="313441"/>
                    <a:pt x="2649534" y="313441"/>
                  </a:cubicBezTo>
                  <a:lnTo>
                    <a:pt x="34571" y="313441"/>
                  </a:lnTo>
                  <a:cubicBezTo>
                    <a:pt x="25403" y="313441"/>
                    <a:pt x="16609" y="309799"/>
                    <a:pt x="10126" y="303316"/>
                  </a:cubicBezTo>
                  <a:cubicBezTo>
                    <a:pt x="3642" y="296832"/>
                    <a:pt x="0" y="288039"/>
                    <a:pt x="0" y="278870"/>
                  </a:cubicBezTo>
                  <a:lnTo>
                    <a:pt x="0" y="34571"/>
                  </a:lnTo>
                  <a:cubicBezTo>
                    <a:pt x="0" y="25403"/>
                    <a:pt x="3642" y="16609"/>
                    <a:pt x="10126" y="10126"/>
                  </a:cubicBezTo>
                  <a:cubicBezTo>
                    <a:pt x="16609" y="3642"/>
                    <a:pt x="25403" y="0"/>
                    <a:pt x="345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84105" cy="361066"/>
            </a:xfrm>
            <a:prstGeom prst="rect">
              <a:avLst/>
            </a:prstGeom>
          </p:spPr>
          <p:txBody>
            <a:bodyPr anchor="ctr" rtlCol="false" tIns="54662" lIns="54662" bIns="54662" rIns="54662"/>
            <a:lstStyle/>
            <a:p>
              <a:pPr algn="ctr" marL="0" indent="0" lvl="0">
                <a:lnSpc>
                  <a:spcPts val="313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27418" y="5132743"/>
            <a:ext cx="10512420" cy="2273872"/>
          </a:xfrm>
          <a:custGeom>
            <a:avLst/>
            <a:gdLst/>
            <a:ahLst/>
            <a:cxnLst/>
            <a:rect r="r" b="b" t="t" l="l"/>
            <a:pathLst>
              <a:path h="2273872" w="10512420">
                <a:moveTo>
                  <a:pt x="0" y="0"/>
                </a:moveTo>
                <a:lnTo>
                  <a:pt x="10512420" y="0"/>
                </a:lnTo>
                <a:lnTo>
                  <a:pt x="10512420" y="2273872"/>
                </a:lnTo>
                <a:lnTo>
                  <a:pt x="0" y="227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9" t="-74976" r="-3089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66285"/>
            <a:ext cx="11397435" cy="278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feature scaling using StandardScaler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756" y="5897473"/>
            <a:ext cx="3712909" cy="3018285"/>
          </a:xfrm>
          <a:custGeom>
            <a:avLst/>
            <a:gdLst/>
            <a:ahLst/>
            <a:cxnLst/>
            <a:rect r="r" b="b" t="t" l="l"/>
            <a:pathLst>
              <a:path h="3018285" w="3712909">
                <a:moveTo>
                  <a:pt x="0" y="0"/>
                </a:moveTo>
                <a:lnTo>
                  <a:pt x="3712909" y="0"/>
                </a:lnTo>
                <a:lnTo>
                  <a:pt x="3712909" y="3018285"/>
                </a:lnTo>
                <a:lnTo>
                  <a:pt x="0" y="3018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1936" y="809625"/>
            <a:ext cx="7067044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Split the data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03499" y="6223128"/>
            <a:ext cx="8935030" cy="8935030"/>
          </a:xfrm>
          <a:custGeom>
            <a:avLst/>
            <a:gdLst/>
            <a:ahLst/>
            <a:cxnLst/>
            <a:rect r="r" b="b" t="t" l="l"/>
            <a:pathLst>
              <a:path h="8935030" w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1301" y="6562085"/>
            <a:ext cx="3712909" cy="3018285"/>
          </a:xfrm>
          <a:custGeom>
            <a:avLst/>
            <a:gdLst/>
            <a:ahLst/>
            <a:cxnLst/>
            <a:rect r="r" b="b" t="t" l="l"/>
            <a:pathLst>
              <a:path h="3018285" w="3712909">
                <a:moveTo>
                  <a:pt x="0" y="0"/>
                </a:moveTo>
                <a:lnTo>
                  <a:pt x="3712908" y="0"/>
                </a:lnTo>
                <a:lnTo>
                  <a:pt x="3712908" y="3018285"/>
                </a:lnTo>
                <a:lnTo>
                  <a:pt x="0" y="301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42910" y="-2365511"/>
            <a:ext cx="6788421" cy="6788421"/>
          </a:xfrm>
          <a:custGeom>
            <a:avLst/>
            <a:gdLst/>
            <a:ahLst/>
            <a:cxnLst/>
            <a:rect r="r" b="b" t="t" l="l"/>
            <a:pathLst>
              <a:path h="6788421" w="6788421">
                <a:moveTo>
                  <a:pt x="0" y="0"/>
                </a:moveTo>
                <a:lnTo>
                  <a:pt x="6788421" y="0"/>
                </a:lnTo>
                <a:lnTo>
                  <a:pt x="6788421" y="6788422"/>
                </a:lnTo>
                <a:lnTo>
                  <a:pt x="0" y="6788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3109" y="4188640"/>
            <a:ext cx="17221781" cy="1225653"/>
          </a:xfrm>
          <a:custGeom>
            <a:avLst/>
            <a:gdLst/>
            <a:ahLst/>
            <a:cxnLst/>
            <a:rect r="r" b="b" t="t" l="l"/>
            <a:pathLst>
              <a:path h="1225653" w="17221781">
                <a:moveTo>
                  <a:pt x="0" y="0"/>
                </a:moveTo>
                <a:lnTo>
                  <a:pt x="17221782" y="0"/>
                </a:lnTo>
                <a:lnTo>
                  <a:pt x="17221782" y="1225653"/>
                </a:lnTo>
                <a:lnTo>
                  <a:pt x="0" y="1225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19" t="-301" r="-16633" b="-7669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6964" y="428916"/>
            <a:ext cx="9851016" cy="172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85"/>
              </a:lnSpc>
              <a:spcBef>
                <a:spcPct val="0"/>
              </a:spcBef>
            </a:pPr>
            <a:r>
              <a:rPr lang="en-US" sz="956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Model Selection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913670"/>
            <a:ext cx="12989442" cy="634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Tested multiple models:</a:t>
            </a:r>
          </a:p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• Logistic Regression</a:t>
            </a:r>
          </a:p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• Random Forest</a:t>
            </a:r>
          </a:p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• Gradient Boosting</a:t>
            </a:r>
          </a:p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• Neural Network </a:t>
            </a:r>
          </a:p>
          <a:p>
            <a:pPr algn="just">
              <a:lnSpc>
                <a:spcPts val="6245"/>
              </a:lnSpc>
            </a:pPr>
            <a:r>
              <a:rPr lang="en-US" sz="4461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• Evaluated using accuracy, precision, recall, F1 score, ROC AUC</a:t>
            </a:r>
          </a:p>
          <a:p>
            <a:pPr algn="just" marL="0" indent="0" lvl="0">
              <a:lnSpc>
                <a:spcPts val="62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0784" y="1155649"/>
            <a:ext cx="12606432" cy="172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85"/>
              </a:lnSpc>
              <a:spcBef>
                <a:spcPct val="0"/>
              </a:spcBef>
            </a:pPr>
            <a:r>
              <a:rPr lang="en-US" sz="956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3651" y="3591283"/>
            <a:ext cx="17560698" cy="4950073"/>
          </a:xfrm>
          <a:custGeom>
            <a:avLst/>
            <a:gdLst/>
            <a:ahLst/>
            <a:cxnLst/>
            <a:rect r="r" b="b" t="t" l="l"/>
            <a:pathLst>
              <a:path h="4950073" w="17560698">
                <a:moveTo>
                  <a:pt x="0" y="0"/>
                </a:moveTo>
                <a:lnTo>
                  <a:pt x="17560698" y="0"/>
                </a:lnTo>
                <a:lnTo>
                  <a:pt x="17560698" y="4950073"/>
                </a:lnTo>
                <a:lnTo>
                  <a:pt x="0" y="4950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83" t="-448" r="0" b="-448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966" y="1028700"/>
            <a:ext cx="17642067" cy="7993323"/>
          </a:xfrm>
          <a:custGeom>
            <a:avLst/>
            <a:gdLst/>
            <a:ahLst/>
            <a:cxnLst/>
            <a:rect r="r" b="b" t="t" l="l"/>
            <a:pathLst>
              <a:path h="7993323" w="17642067">
                <a:moveTo>
                  <a:pt x="0" y="0"/>
                </a:moveTo>
                <a:lnTo>
                  <a:pt x="17642068" y="0"/>
                </a:lnTo>
                <a:lnTo>
                  <a:pt x="17642068" y="7993323"/>
                </a:lnTo>
                <a:lnTo>
                  <a:pt x="0" y="7993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459" y="93632"/>
            <a:ext cx="14837083" cy="34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85"/>
              </a:lnSpc>
              <a:spcBef>
                <a:spcPct val="0"/>
              </a:spcBef>
            </a:pPr>
            <a:r>
              <a:rPr lang="en-US" sz="956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Best Model: Random Forest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0133" y="3476994"/>
            <a:ext cx="17067734" cy="6609409"/>
            <a:chOff x="0" y="0"/>
            <a:chExt cx="22756978" cy="881254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756978" cy="8812545"/>
              <a:chOff x="0" y="0"/>
              <a:chExt cx="5319048" cy="20597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319048" cy="2059779"/>
              </a:xfrm>
              <a:custGeom>
                <a:avLst/>
                <a:gdLst/>
                <a:ahLst/>
                <a:cxnLst/>
                <a:rect r="r" b="b" t="t" l="l"/>
                <a:pathLst>
                  <a:path h="2059779" w="5319048">
                    <a:moveTo>
                      <a:pt x="17445" y="0"/>
                    </a:moveTo>
                    <a:lnTo>
                      <a:pt x="5301602" y="0"/>
                    </a:lnTo>
                    <a:cubicBezTo>
                      <a:pt x="5306229" y="0"/>
                      <a:pt x="5310667" y="1838"/>
                      <a:pt x="5313938" y="5110"/>
                    </a:cubicBezTo>
                    <a:cubicBezTo>
                      <a:pt x="5317210" y="8381"/>
                      <a:pt x="5319048" y="12819"/>
                      <a:pt x="5319048" y="17445"/>
                    </a:cubicBezTo>
                    <a:lnTo>
                      <a:pt x="5319048" y="2042334"/>
                    </a:lnTo>
                    <a:cubicBezTo>
                      <a:pt x="5319048" y="2046961"/>
                      <a:pt x="5317210" y="2051398"/>
                      <a:pt x="5313938" y="2054670"/>
                    </a:cubicBezTo>
                    <a:cubicBezTo>
                      <a:pt x="5310667" y="2057941"/>
                      <a:pt x="5306229" y="2059779"/>
                      <a:pt x="5301602" y="2059779"/>
                    </a:cubicBezTo>
                    <a:lnTo>
                      <a:pt x="17445" y="2059779"/>
                    </a:lnTo>
                    <a:cubicBezTo>
                      <a:pt x="12819" y="2059779"/>
                      <a:pt x="8381" y="2057941"/>
                      <a:pt x="5110" y="2054670"/>
                    </a:cubicBezTo>
                    <a:cubicBezTo>
                      <a:pt x="1838" y="2051398"/>
                      <a:pt x="0" y="2046961"/>
                      <a:pt x="0" y="2042334"/>
                    </a:cubicBezTo>
                    <a:lnTo>
                      <a:pt x="0" y="17445"/>
                    </a:lnTo>
                    <a:cubicBezTo>
                      <a:pt x="0" y="12819"/>
                      <a:pt x="1838" y="8381"/>
                      <a:pt x="5110" y="5110"/>
                    </a:cubicBezTo>
                    <a:cubicBezTo>
                      <a:pt x="8381" y="1838"/>
                      <a:pt x="12819" y="0"/>
                      <a:pt x="17445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319048" cy="2107404"/>
              </a:xfrm>
              <a:prstGeom prst="rect">
                <a:avLst/>
              </a:prstGeom>
            </p:spPr>
            <p:txBody>
              <a:bodyPr anchor="ctr" rtlCol="false" tIns="54662" lIns="54662" bIns="54662" rIns="54662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132595" y="1149455"/>
              <a:ext cx="20491789" cy="6380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•Random Forest achieved the best balance between precision and recall</a:t>
              </a:r>
            </a:p>
            <a:p>
              <a:pPr algn="l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•Used RandomizedSearchCV and GridSearchCV for hyperparameter tuning</a:t>
              </a:r>
            </a:p>
            <a:p>
              <a:pPr algn="l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•Final model saved using pickle</a:t>
              </a:r>
            </a:p>
            <a:p>
              <a:pPr algn="l" marL="0" indent="0" lvl="0">
                <a:lnSpc>
                  <a:spcPts val="63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6175" y="3771371"/>
            <a:ext cx="16139260" cy="16139260"/>
          </a:xfrm>
          <a:custGeom>
            <a:avLst/>
            <a:gdLst/>
            <a:ahLst/>
            <a:cxnLst/>
            <a:rect r="r" b="b" t="t" l="l"/>
            <a:pathLst>
              <a:path h="16139260" w="16139260">
                <a:moveTo>
                  <a:pt x="0" y="0"/>
                </a:moveTo>
                <a:lnTo>
                  <a:pt x="16139261" y="0"/>
                </a:lnTo>
                <a:lnTo>
                  <a:pt x="16139261" y="16139261"/>
                </a:lnTo>
                <a:lnTo>
                  <a:pt x="0" y="1613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15301" y="-3090277"/>
            <a:ext cx="6861649" cy="6861649"/>
          </a:xfrm>
          <a:custGeom>
            <a:avLst/>
            <a:gdLst/>
            <a:ahLst/>
            <a:cxnLst/>
            <a:rect r="r" b="b" t="t" l="l"/>
            <a:pathLst>
              <a:path h="6861649" w="6861649">
                <a:moveTo>
                  <a:pt x="0" y="0"/>
                </a:moveTo>
                <a:lnTo>
                  <a:pt x="6861648" y="0"/>
                </a:lnTo>
                <a:lnTo>
                  <a:pt x="6861648" y="6861648"/>
                </a:lnTo>
                <a:lnTo>
                  <a:pt x="0" y="686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32656" y="2271849"/>
            <a:ext cx="12222687" cy="5743302"/>
            <a:chOff x="0" y="0"/>
            <a:chExt cx="2802601" cy="13169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2601" cy="1316910"/>
            </a:xfrm>
            <a:custGeom>
              <a:avLst/>
              <a:gdLst/>
              <a:ahLst/>
              <a:cxnLst/>
              <a:rect r="r" b="b" t="t" l="l"/>
              <a:pathLst>
                <a:path h="1316910" w="2802601">
                  <a:moveTo>
                    <a:pt x="8234" y="0"/>
                  </a:moveTo>
                  <a:lnTo>
                    <a:pt x="2794367" y="0"/>
                  </a:lnTo>
                  <a:cubicBezTo>
                    <a:pt x="2798914" y="0"/>
                    <a:pt x="2802601" y="3687"/>
                    <a:pt x="2802601" y="8234"/>
                  </a:cubicBezTo>
                  <a:lnTo>
                    <a:pt x="2802601" y="1308676"/>
                  </a:lnTo>
                  <a:cubicBezTo>
                    <a:pt x="2802601" y="1313224"/>
                    <a:pt x="2798914" y="1316910"/>
                    <a:pt x="2794367" y="1316910"/>
                  </a:cubicBezTo>
                  <a:lnTo>
                    <a:pt x="8234" y="1316910"/>
                  </a:lnTo>
                  <a:cubicBezTo>
                    <a:pt x="3687" y="1316910"/>
                    <a:pt x="0" y="1313224"/>
                    <a:pt x="0" y="1308676"/>
                  </a:cubicBezTo>
                  <a:lnTo>
                    <a:pt x="0" y="8234"/>
                  </a:lnTo>
                  <a:cubicBezTo>
                    <a:pt x="0" y="3687"/>
                    <a:pt x="3687" y="0"/>
                    <a:pt x="8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2802601" cy="150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687"/>
                </a:lnSpc>
                <a:spcBef>
                  <a:spcPct val="0"/>
                </a:spcBef>
              </a:pPr>
              <a:r>
                <a:rPr lang="en-US" sz="6919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Mile</a:t>
              </a:r>
              <a:r>
                <a:rPr lang="en-US" sz="6919" strike="noStrike" u="none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stone 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58789" y="5974909"/>
            <a:ext cx="7170421" cy="48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00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 Deployment, and Monitoring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0784" y="4150066"/>
            <a:ext cx="12606432" cy="172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85"/>
              </a:lnSpc>
              <a:spcBef>
                <a:spcPct val="0"/>
              </a:spcBef>
            </a:pPr>
            <a:r>
              <a:rPr lang="en-US" sz="956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127" y="781050"/>
            <a:ext cx="11029106" cy="300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10"/>
              </a:lnSpc>
              <a:spcBef>
                <a:spcPct val="0"/>
              </a:spcBef>
            </a:pPr>
            <a:r>
              <a:rPr lang="en-US" sz="836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Deploy the model using streamlit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919510" y="-4146299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65120" y="5643508"/>
            <a:ext cx="11957760" cy="1885886"/>
          </a:xfrm>
          <a:custGeom>
            <a:avLst/>
            <a:gdLst/>
            <a:ahLst/>
            <a:cxnLst/>
            <a:rect r="r" b="b" t="t" l="l"/>
            <a:pathLst>
              <a:path h="1885886" w="11957760">
                <a:moveTo>
                  <a:pt x="0" y="0"/>
                </a:moveTo>
                <a:lnTo>
                  <a:pt x="11957760" y="0"/>
                </a:lnTo>
                <a:lnTo>
                  <a:pt x="11957760" y="1885886"/>
                </a:lnTo>
                <a:lnTo>
                  <a:pt x="0" y="1885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52893" y="-5952614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05047" y="401946"/>
            <a:ext cx="9483109" cy="9483109"/>
          </a:xfrm>
          <a:custGeom>
            <a:avLst/>
            <a:gdLst/>
            <a:ahLst/>
            <a:cxnLst/>
            <a:rect r="r" b="b" t="t" l="l"/>
            <a:pathLst>
              <a:path h="9483109" w="9483109">
                <a:moveTo>
                  <a:pt x="0" y="0"/>
                </a:moveTo>
                <a:lnTo>
                  <a:pt x="9483109" y="0"/>
                </a:lnTo>
                <a:lnTo>
                  <a:pt x="9483109" y="9483108"/>
                </a:lnTo>
                <a:lnTo>
                  <a:pt x="0" y="948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22725" y="6685556"/>
            <a:ext cx="3464242" cy="2878208"/>
          </a:xfrm>
          <a:custGeom>
            <a:avLst/>
            <a:gdLst/>
            <a:ahLst/>
            <a:cxnLst/>
            <a:rect r="r" b="b" t="t" l="l"/>
            <a:pathLst>
              <a:path h="2878208" w="3464242">
                <a:moveTo>
                  <a:pt x="0" y="0"/>
                </a:moveTo>
                <a:lnTo>
                  <a:pt x="3464242" y="0"/>
                </a:lnTo>
                <a:lnTo>
                  <a:pt x="3464242" y="2878208"/>
                </a:lnTo>
                <a:lnTo>
                  <a:pt x="0" y="2878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71211" y="4332724"/>
            <a:ext cx="8550780" cy="14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Interface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6800493" y="-5800214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10331" y="5555125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9484"/>
            <a:ext cx="7142294" cy="9908033"/>
          </a:xfrm>
          <a:custGeom>
            <a:avLst/>
            <a:gdLst/>
            <a:ahLst/>
            <a:cxnLst/>
            <a:rect r="r" b="b" t="t" l="l"/>
            <a:pathLst>
              <a:path h="9908033" w="7142294">
                <a:moveTo>
                  <a:pt x="0" y="0"/>
                </a:moveTo>
                <a:lnTo>
                  <a:pt x="7142294" y="0"/>
                </a:lnTo>
                <a:lnTo>
                  <a:pt x="7142294" y="9908032"/>
                </a:lnTo>
                <a:lnTo>
                  <a:pt x="0" y="9908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07178" y="189484"/>
            <a:ext cx="6853833" cy="9908033"/>
          </a:xfrm>
          <a:custGeom>
            <a:avLst/>
            <a:gdLst/>
            <a:ahLst/>
            <a:cxnLst/>
            <a:rect r="r" b="b" t="t" l="l"/>
            <a:pathLst>
              <a:path h="9908033" w="6853833">
                <a:moveTo>
                  <a:pt x="0" y="0"/>
                </a:moveTo>
                <a:lnTo>
                  <a:pt x="6853832" y="0"/>
                </a:lnTo>
                <a:lnTo>
                  <a:pt x="6853832" y="9908032"/>
                </a:lnTo>
                <a:lnTo>
                  <a:pt x="0" y="9908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459" y="93632"/>
            <a:ext cx="14837083" cy="172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85"/>
              </a:lnSpc>
              <a:spcBef>
                <a:spcPct val="0"/>
              </a:spcBef>
            </a:pPr>
            <a:r>
              <a:rPr lang="en-US" sz="956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45859" y="2500763"/>
            <a:ext cx="13515075" cy="13515075"/>
          </a:xfrm>
          <a:custGeom>
            <a:avLst/>
            <a:gdLst/>
            <a:ahLst/>
            <a:cxnLst/>
            <a:rect r="r" b="b" t="t" l="l"/>
            <a:pathLst>
              <a:path h="13515075" w="13515075">
                <a:moveTo>
                  <a:pt x="0" y="0"/>
                </a:moveTo>
                <a:lnTo>
                  <a:pt x="13515074" y="0"/>
                </a:lnTo>
                <a:lnTo>
                  <a:pt x="13515074" y="13515074"/>
                </a:lnTo>
                <a:lnTo>
                  <a:pt x="0" y="135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37675" y="-3944026"/>
            <a:ext cx="10732750" cy="10732750"/>
          </a:xfrm>
          <a:custGeom>
            <a:avLst/>
            <a:gdLst/>
            <a:ahLst/>
            <a:cxnLst/>
            <a:rect r="r" b="b" t="t" l="l"/>
            <a:pathLst>
              <a:path h="10732750" w="10732750">
                <a:moveTo>
                  <a:pt x="0" y="0"/>
                </a:moveTo>
                <a:lnTo>
                  <a:pt x="10732750" y="0"/>
                </a:lnTo>
                <a:lnTo>
                  <a:pt x="10732750" y="10732750"/>
                </a:lnTo>
                <a:lnTo>
                  <a:pt x="0" y="1073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0133" y="3476994"/>
            <a:ext cx="17067734" cy="5809309"/>
            <a:chOff x="0" y="0"/>
            <a:chExt cx="22756978" cy="774574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756978" cy="7745745"/>
              <a:chOff x="0" y="0"/>
              <a:chExt cx="5319048" cy="18104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319048" cy="1810433"/>
              </a:xfrm>
              <a:custGeom>
                <a:avLst/>
                <a:gdLst/>
                <a:ahLst/>
                <a:cxnLst/>
                <a:rect r="r" b="b" t="t" l="l"/>
                <a:pathLst>
                  <a:path h="1810433" w="5319048">
                    <a:moveTo>
                      <a:pt x="17445" y="0"/>
                    </a:moveTo>
                    <a:lnTo>
                      <a:pt x="5301602" y="0"/>
                    </a:lnTo>
                    <a:cubicBezTo>
                      <a:pt x="5306229" y="0"/>
                      <a:pt x="5310667" y="1838"/>
                      <a:pt x="5313938" y="5110"/>
                    </a:cubicBezTo>
                    <a:cubicBezTo>
                      <a:pt x="5317210" y="8381"/>
                      <a:pt x="5319048" y="12819"/>
                      <a:pt x="5319048" y="17445"/>
                    </a:cubicBezTo>
                    <a:lnTo>
                      <a:pt x="5319048" y="1792988"/>
                    </a:lnTo>
                    <a:cubicBezTo>
                      <a:pt x="5319048" y="1797615"/>
                      <a:pt x="5317210" y="1802052"/>
                      <a:pt x="5313938" y="1805324"/>
                    </a:cubicBezTo>
                    <a:cubicBezTo>
                      <a:pt x="5310667" y="1808595"/>
                      <a:pt x="5306229" y="1810433"/>
                      <a:pt x="5301602" y="1810433"/>
                    </a:cubicBezTo>
                    <a:lnTo>
                      <a:pt x="17445" y="1810433"/>
                    </a:lnTo>
                    <a:cubicBezTo>
                      <a:pt x="12819" y="1810433"/>
                      <a:pt x="8381" y="1808595"/>
                      <a:pt x="5110" y="1805324"/>
                    </a:cubicBezTo>
                    <a:cubicBezTo>
                      <a:pt x="1838" y="1802052"/>
                      <a:pt x="0" y="1797615"/>
                      <a:pt x="0" y="1792988"/>
                    </a:cubicBezTo>
                    <a:lnTo>
                      <a:pt x="0" y="17445"/>
                    </a:lnTo>
                    <a:cubicBezTo>
                      <a:pt x="0" y="12819"/>
                      <a:pt x="1838" y="8381"/>
                      <a:pt x="5110" y="5110"/>
                    </a:cubicBezTo>
                    <a:cubicBezTo>
                      <a:pt x="8381" y="1838"/>
                      <a:pt x="12819" y="0"/>
                      <a:pt x="17445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319048" cy="1858058"/>
              </a:xfrm>
              <a:prstGeom prst="rect">
                <a:avLst/>
              </a:prstGeom>
            </p:spPr>
            <p:txBody>
              <a:bodyPr anchor="ctr" rtlCol="false" tIns="54662" lIns="54662" bIns="54662" rIns="54662"/>
              <a:lstStyle/>
              <a:p>
                <a:pPr algn="ctr" marL="0" indent="0" lvl="0">
                  <a:lnSpc>
                    <a:spcPts val="313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132595" y="1149455"/>
              <a:ext cx="20491789" cy="5313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•AI can support early medical decision-making</a:t>
              </a:r>
            </a:p>
            <a:p>
              <a:pPr algn="just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•System is accurate, fast, and easy to use</a:t>
              </a:r>
            </a:p>
            <a:p>
              <a:pPr algn="just">
                <a:lnSpc>
                  <a:spcPts val="6360"/>
                </a:lnSpc>
              </a:pPr>
              <a:r>
                <a:rPr lang="en-US" sz="4543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•Can be expanded to other health conditions in the future</a:t>
              </a:r>
            </a:p>
            <a:p>
              <a:pPr algn="ctr" marL="0" indent="0" lvl="0">
                <a:lnSpc>
                  <a:spcPts val="63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41496" y="5143500"/>
            <a:ext cx="11355339" cy="11355339"/>
          </a:xfrm>
          <a:custGeom>
            <a:avLst/>
            <a:gdLst/>
            <a:ahLst/>
            <a:cxnLst/>
            <a:rect r="r" b="b" t="t" l="l"/>
            <a:pathLst>
              <a:path h="11355339" w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28941" y="-5670511"/>
            <a:ext cx="10814011" cy="10814011"/>
          </a:xfrm>
          <a:custGeom>
            <a:avLst/>
            <a:gdLst/>
            <a:ahLst/>
            <a:cxnLst/>
            <a:rect r="r" b="b" t="t" l="l"/>
            <a:pathLst>
              <a:path h="10814011" w="10814011">
                <a:moveTo>
                  <a:pt x="0" y="0"/>
                </a:moveTo>
                <a:lnTo>
                  <a:pt x="10814011" y="0"/>
                </a:lnTo>
                <a:lnTo>
                  <a:pt x="10814011" y="10814011"/>
                </a:lnTo>
                <a:lnTo>
                  <a:pt x="0" y="10814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13117" y="2444506"/>
            <a:ext cx="11861766" cy="5397987"/>
            <a:chOff x="0" y="0"/>
            <a:chExt cx="15815688" cy="719731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5815688" cy="7197317"/>
              <a:chOff x="0" y="0"/>
              <a:chExt cx="2378837" cy="108254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78837" cy="1082548"/>
              </a:xfrm>
              <a:custGeom>
                <a:avLst/>
                <a:gdLst/>
                <a:ahLst/>
                <a:cxnLst/>
                <a:rect r="r" b="b" t="t" l="l"/>
                <a:pathLst>
                  <a:path h="1082548" w="2378837">
                    <a:moveTo>
                      <a:pt x="8485" y="0"/>
                    </a:moveTo>
                    <a:lnTo>
                      <a:pt x="2370352" y="0"/>
                    </a:lnTo>
                    <a:cubicBezTo>
                      <a:pt x="2375038" y="0"/>
                      <a:pt x="2378837" y="3799"/>
                      <a:pt x="2378837" y="8485"/>
                    </a:cubicBezTo>
                    <a:lnTo>
                      <a:pt x="2378837" y="1074063"/>
                    </a:lnTo>
                    <a:cubicBezTo>
                      <a:pt x="2378837" y="1078749"/>
                      <a:pt x="2375038" y="1082548"/>
                      <a:pt x="2370352" y="1082548"/>
                    </a:cubicBezTo>
                    <a:lnTo>
                      <a:pt x="8485" y="1082548"/>
                    </a:lnTo>
                    <a:cubicBezTo>
                      <a:pt x="3799" y="1082548"/>
                      <a:pt x="0" y="1078749"/>
                      <a:pt x="0" y="1074063"/>
                    </a:cubicBezTo>
                    <a:lnTo>
                      <a:pt x="0" y="8485"/>
                    </a:lnTo>
                    <a:cubicBezTo>
                      <a:pt x="0" y="3799"/>
                      <a:pt x="3799" y="0"/>
                      <a:pt x="848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5066D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378837" cy="1120648"/>
              </a:xfrm>
              <a:prstGeom prst="rect">
                <a:avLst/>
              </a:prstGeom>
            </p:spPr>
            <p:txBody>
              <a:bodyPr anchor="ctr" rtlCol="false" tIns="66715" lIns="66715" bIns="66715" rIns="66715"/>
              <a:lstStyle/>
              <a:p>
                <a:pPr algn="ctr">
                  <a:lnSpc>
                    <a:spcPts val="3418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731732" y="3598658"/>
              <a:ext cx="6352223" cy="2282702"/>
              <a:chOff x="0" y="0"/>
              <a:chExt cx="955437" cy="34334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55437" cy="343341"/>
              </a:xfrm>
              <a:custGeom>
                <a:avLst/>
                <a:gdLst/>
                <a:ahLst/>
                <a:cxnLst/>
                <a:rect r="r" b="b" t="t" l="l"/>
                <a:pathLst>
                  <a:path h="343341" w="955437">
                    <a:moveTo>
                      <a:pt x="27626" y="0"/>
                    </a:moveTo>
                    <a:lnTo>
                      <a:pt x="927812" y="0"/>
                    </a:lnTo>
                    <a:cubicBezTo>
                      <a:pt x="943069" y="0"/>
                      <a:pt x="955437" y="12368"/>
                      <a:pt x="955437" y="27626"/>
                    </a:cubicBezTo>
                    <a:lnTo>
                      <a:pt x="955437" y="315715"/>
                    </a:lnTo>
                    <a:cubicBezTo>
                      <a:pt x="955437" y="323042"/>
                      <a:pt x="952527" y="330069"/>
                      <a:pt x="947346" y="335250"/>
                    </a:cubicBezTo>
                    <a:cubicBezTo>
                      <a:pt x="942165" y="340430"/>
                      <a:pt x="935139" y="343341"/>
                      <a:pt x="927812" y="343341"/>
                    </a:cubicBezTo>
                    <a:lnTo>
                      <a:pt x="27626" y="343341"/>
                    </a:lnTo>
                    <a:cubicBezTo>
                      <a:pt x="20299" y="343341"/>
                      <a:pt x="13272" y="340430"/>
                      <a:pt x="8091" y="335250"/>
                    </a:cubicBezTo>
                    <a:cubicBezTo>
                      <a:pt x="2911" y="330069"/>
                      <a:pt x="0" y="323042"/>
                      <a:pt x="0" y="315715"/>
                    </a:cubicBezTo>
                    <a:lnTo>
                      <a:pt x="0" y="27626"/>
                    </a:lnTo>
                    <a:cubicBezTo>
                      <a:pt x="0" y="20299"/>
                      <a:pt x="2911" y="13272"/>
                      <a:pt x="8091" y="8091"/>
                    </a:cubicBezTo>
                    <a:cubicBezTo>
                      <a:pt x="13272" y="2911"/>
                      <a:pt x="20299" y="0"/>
                      <a:pt x="27626" y="0"/>
                    </a:cubicBezTo>
                    <a:close/>
                  </a:path>
                </a:pathLst>
              </a:custGeom>
              <a:solidFill>
                <a:srgbClr val="0506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955437" cy="381441"/>
              </a:xfrm>
              <a:prstGeom prst="rect">
                <a:avLst/>
              </a:prstGeom>
            </p:spPr>
            <p:txBody>
              <a:bodyPr anchor="ctr" rtlCol="false" tIns="66715" lIns="66715" bIns="66715" rIns="66715"/>
              <a:lstStyle/>
              <a:p>
                <a:pPr algn="ctr">
                  <a:lnSpc>
                    <a:spcPts val="3418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95907" y="1192132"/>
              <a:ext cx="13785833" cy="4689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59"/>
                </a:lnSpc>
              </a:pPr>
              <a:r>
                <a:rPr lang="en-US" sz="11196" b="true">
                  <a:solidFill>
                    <a:srgbClr val="05066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</a:t>
              </a:r>
            </a:p>
            <a:p>
              <a:pPr algn="ctr" marL="0" indent="0" lvl="0">
                <a:lnSpc>
                  <a:spcPts val="13659"/>
                </a:lnSpc>
                <a:spcBef>
                  <a:spcPct val="0"/>
                </a:spcBef>
              </a:pPr>
              <a:r>
                <a:rPr lang="en-US" b="true" sz="11196">
                  <a:solidFill>
                    <a:srgbClr val="05066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4928" y="1192132"/>
              <a:ext cx="13785833" cy="4689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59"/>
                </a:lnSpc>
              </a:pPr>
              <a:r>
                <a:rPr lang="en-US" sz="1119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</a:t>
              </a:r>
            </a:p>
            <a:p>
              <a:pPr algn="ctr" marL="0" indent="0" lvl="0">
                <a:lnSpc>
                  <a:spcPts val="13659"/>
                </a:lnSpc>
                <a:spcBef>
                  <a:spcPct val="0"/>
                </a:spcBef>
              </a:pPr>
              <a:r>
                <a:rPr lang="en-US" b="true" sz="1119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DAGnXcvHoJs</dc:identifier>
  <dcterms:modified xsi:type="dcterms:W3CDTF">2011-08-01T06:04:30Z</dcterms:modified>
  <cp:revision>1</cp:revision>
  <dc:title>White and Light Blue Professional Modern Health Care Presentation</dc:title>
</cp:coreProperties>
</file>